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62" r:id="rId2"/>
    <p:sldMasterId id="2147483822" r:id="rId3"/>
    <p:sldMasterId id="2147483840" r:id="rId4"/>
  </p:sldMasterIdLst>
  <p:notesMasterIdLst>
    <p:notesMasterId r:id="rId23"/>
  </p:notesMasterIdLst>
  <p:sldIdLst>
    <p:sldId id="256" r:id="rId5"/>
    <p:sldId id="258" r:id="rId6"/>
    <p:sldId id="257" r:id="rId7"/>
    <p:sldId id="259" r:id="rId8"/>
    <p:sldId id="279" r:id="rId9"/>
    <p:sldId id="280" r:id="rId10"/>
    <p:sldId id="281" r:id="rId11"/>
    <p:sldId id="282" r:id="rId12"/>
    <p:sldId id="284" r:id="rId13"/>
    <p:sldId id="285" r:id="rId14"/>
    <p:sldId id="286" r:id="rId15"/>
    <p:sldId id="288" r:id="rId16"/>
    <p:sldId id="287" r:id="rId17"/>
    <p:sldId id="283" r:id="rId18"/>
    <p:sldId id="263" r:id="rId19"/>
    <p:sldId id="262" r:id="rId20"/>
    <p:sldId id="264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8200"/>
    <a:srgbClr val="ED7D31"/>
    <a:srgbClr val="FFFAEB"/>
    <a:srgbClr val="4472C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160" autoAdjust="0"/>
  </p:normalViewPr>
  <p:slideViewPr>
    <p:cSldViewPr snapToGrid="0">
      <p:cViewPr varScale="1">
        <p:scale>
          <a:sx n="66" d="100"/>
          <a:sy n="66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5260D6-BC55-40BB-A640-22EE8C3C97F3}" type="doc">
      <dgm:prSet loTypeId="urn:microsoft.com/office/officeart/2005/8/layout/venn1" loCatId="relationship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IN"/>
        </a:p>
      </dgm:t>
    </dgm:pt>
    <dgm:pt modelId="{E163FB23-9848-4072-880E-4495134E3C21}">
      <dgm:prSet custT="1"/>
      <dgm:spPr/>
      <dgm:t>
        <a:bodyPr/>
        <a:lstStyle/>
        <a:p>
          <a:r>
            <a:rPr lang="en-US" sz="2400" b="1"/>
            <a:t>Pandas</a:t>
          </a:r>
          <a:endParaRPr lang="en-IN" sz="2400" b="1"/>
        </a:p>
      </dgm:t>
    </dgm:pt>
    <dgm:pt modelId="{B957E225-18B0-49AD-9F58-A8F896C71B1F}" type="parTrans" cxnId="{562879F5-0F09-4953-88FA-99FB077789F3}">
      <dgm:prSet/>
      <dgm:spPr/>
      <dgm:t>
        <a:bodyPr/>
        <a:lstStyle/>
        <a:p>
          <a:endParaRPr lang="en-IN" sz="2400" b="1"/>
        </a:p>
      </dgm:t>
    </dgm:pt>
    <dgm:pt modelId="{A3A69E0A-56E5-4F70-ABCB-2AD571E227DD}" type="sibTrans" cxnId="{562879F5-0F09-4953-88FA-99FB077789F3}">
      <dgm:prSet/>
      <dgm:spPr/>
      <dgm:t>
        <a:bodyPr/>
        <a:lstStyle/>
        <a:p>
          <a:endParaRPr lang="en-IN" sz="2400" b="1"/>
        </a:p>
      </dgm:t>
    </dgm:pt>
    <dgm:pt modelId="{F35FC94B-53CF-4DAB-8BD9-C96A8CE5C9FE}">
      <dgm:prSet custT="1"/>
      <dgm:spPr/>
      <dgm:t>
        <a:bodyPr/>
        <a:lstStyle/>
        <a:p>
          <a:r>
            <a:rPr lang="en-US" sz="2400" b="1"/>
            <a:t>Numpy</a:t>
          </a:r>
          <a:endParaRPr lang="en-IN" sz="2400" b="1"/>
        </a:p>
      </dgm:t>
    </dgm:pt>
    <dgm:pt modelId="{22A63E68-5A90-4CE0-A963-9D1620CEC0ED}" type="parTrans" cxnId="{0D575123-B729-477C-A158-CD1DED37929A}">
      <dgm:prSet/>
      <dgm:spPr/>
      <dgm:t>
        <a:bodyPr/>
        <a:lstStyle/>
        <a:p>
          <a:endParaRPr lang="en-IN" sz="2400" b="1"/>
        </a:p>
      </dgm:t>
    </dgm:pt>
    <dgm:pt modelId="{90B57FD5-B7BB-49BD-B2CC-143D98D2D09A}" type="sibTrans" cxnId="{0D575123-B729-477C-A158-CD1DED37929A}">
      <dgm:prSet/>
      <dgm:spPr/>
      <dgm:t>
        <a:bodyPr/>
        <a:lstStyle/>
        <a:p>
          <a:endParaRPr lang="en-IN" sz="2400" b="1"/>
        </a:p>
      </dgm:t>
    </dgm:pt>
    <dgm:pt modelId="{67A2196C-9533-439B-82E8-1C935121463B}">
      <dgm:prSet custT="1"/>
      <dgm:spPr/>
      <dgm:t>
        <a:bodyPr/>
        <a:lstStyle/>
        <a:p>
          <a:r>
            <a:rPr lang="en-US" sz="2400" b="1" dirty="0"/>
            <a:t>Matplotlib</a:t>
          </a:r>
          <a:endParaRPr lang="en-IN" sz="2400" b="1" dirty="0"/>
        </a:p>
      </dgm:t>
    </dgm:pt>
    <dgm:pt modelId="{B93049C9-2471-4CDB-AAAE-30E69AABF76C}" type="parTrans" cxnId="{39C0538F-6EF3-4C3C-8EC7-FEAAC9A8C204}">
      <dgm:prSet/>
      <dgm:spPr/>
      <dgm:t>
        <a:bodyPr/>
        <a:lstStyle/>
        <a:p>
          <a:endParaRPr lang="en-IN" sz="2400" b="1"/>
        </a:p>
      </dgm:t>
    </dgm:pt>
    <dgm:pt modelId="{B70774B2-303F-46E0-A960-2BDB484DD8E5}" type="sibTrans" cxnId="{39C0538F-6EF3-4C3C-8EC7-FEAAC9A8C204}">
      <dgm:prSet/>
      <dgm:spPr/>
      <dgm:t>
        <a:bodyPr/>
        <a:lstStyle/>
        <a:p>
          <a:endParaRPr lang="en-IN" sz="2400" b="1"/>
        </a:p>
      </dgm:t>
    </dgm:pt>
    <dgm:pt modelId="{52326233-A188-4E6D-B156-ADB6978E0587}">
      <dgm:prSet custT="1"/>
      <dgm:spPr/>
      <dgm:t>
        <a:bodyPr/>
        <a:lstStyle/>
        <a:p>
          <a:r>
            <a:rPr lang="en-US" sz="2400" b="1"/>
            <a:t>Seaborn</a:t>
          </a:r>
          <a:endParaRPr lang="en-IN" sz="2400" b="1"/>
        </a:p>
      </dgm:t>
    </dgm:pt>
    <dgm:pt modelId="{FAD44E3C-AB40-41E3-9308-4C095DFC3E62}" type="parTrans" cxnId="{E14CC434-A645-4DBB-B277-5544A067B3A3}">
      <dgm:prSet/>
      <dgm:spPr/>
      <dgm:t>
        <a:bodyPr/>
        <a:lstStyle/>
        <a:p>
          <a:endParaRPr lang="en-IN" sz="2400" b="1"/>
        </a:p>
      </dgm:t>
    </dgm:pt>
    <dgm:pt modelId="{82871867-5A61-4DD3-AF5A-C73F1C22D722}" type="sibTrans" cxnId="{E14CC434-A645-4DBB-B277-5544A067B3A3}">
      <dgm:prSet/>
      <dgm:spPr/>
      <dgm:t>
        <a:bodyPr/>
        <a:lstStyle/>
        <a:p>
          <a:endParaRPr lang="en-IN" sz="2400" b="1"/>
        </a:p>
      </dgm:t>
    </dgm:pt>
    <dgm:pt modelId="{BEFAD923-1708-48AC-9D31-D4DF0380010E}" type="pres">
      <dgm:prSet presAssocID="{495260D6-BC55-40BB-A640-22EE8C3C97F3}" presName="compositeShape" presStyleCnt="0">
        <dgm:presLayoutVars>
          <dgm:chMax val="7"/>
          <dgm:dir/>
          <dgm:resizeHandles val="exact"/>
        </dgm:presLayoutVars>
      </dgm:prSet>
      <dgm:spPr/>
    </dgm:pt>
    <dgm:pt modelId="{EFF12ABD-37DD-45F4-81A1-C058A80000B4}" type="pres">
      <dgm:prSet presAssocID="{E163FB23-9848-4072-880E-4495134E3C21}" presName="circ1" presStyleLbl="vennNode1" presStyleIdx="0" presStyleCnt="4"/>
      <dgm:spPr/>
    </dgm:pt>
    <dgm:pt modelId="{01FD8AEE-D784-4A11-96FC-F8BE98DBD701}" type="pres">
      <dgm:prSet presAssocID="{E163FB23-9848-4072-880E-4495134E3C21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964C26F-DBE2-4CA4-BDFA-F230C1D53D24}" type="pres">
      <dgm:prSet presAssocID="{F35FC94B-53CF-4DAB-8BD9-C96A8CE5C9FE}" presName="circ2" presStyleLbl="vennNode1" presStyleIdx="1" presStyleCnt="4"/>
      <dgm:spPr/>
    </dgm:pt>
    <dgm:pt modelId="{A80CFDA0-C06F-4C73-A1B0-270057E3EDDB}" type="pres">
      <dgm:prSet presAssocID="{F35FC94B-53CF-4DAB-8BD9-C96A8CE5C9F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16CA621-C747-4BF3-8A8E-B5B71A3294F9}" type="pres">
      <dgm:prSet presAssocID="{67A2196C-9533-439B-82E8-1C935121463B}" presName="circ3" presStyleLbl="vennNode1" presStyleIdx="2" presStyleCnt="4"/>
      <dgm:spPr/>
    </dgm:pt>
    <dgm:pt modelId="{44EC9CCF-87BD-477F-9808-D3BF01B0176D}" type="pres">
      <dgm:prSet presAssocID="{67A2196C-9533-439B-82E8-1C935121463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81FEB8E-C37C-4CCA-8D51-2935656B3995}" type="pres">
      <dgm:prSet presAssocID="{52326233-A188-4E6D-B156-ADB6978E0587}" presName="circ4" presStyleLbl="vennNode1" presStyleIdx="3" presStyleCnt="4"/>
      <dgm:spPr/>
    </dgm:pt>
    <dgm:pt modelId="{63A3E2E4-E3A4-4A06-8F4B-D430D647CE2E}" type="pres">
      <dgm:prSet presAssocID="{52326233-A188-4E6D-B156-ADB6978E0587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B0FFA16-AC31-4163-BCEF-CC96EFEA9805}" type="presOf" srcId="{495260D6-BC55-40BB-A640-22EE8C3C97F3}" destId="{BEFAD923-1708-48AC-9D31-D4DF0380010E}" srcOrd="0" destOrd="0" presId="urn:microsoft.com/office/officeart/2005/8/layout/venn1"/>
    <dgm:cxn modelId="{0D575123-B729-477C-A158-CD1DED37929A}" srcId="{495260D6-BC55-40BB-A640-22EE8C3C97F3}" destId="{F35FC94B-53CF-4DAB-8BD9-C96A8CE5C9FE}" srcOrd="1" destOrd="0" parTransId="{22A63E68-5A90-4CE0-A963-9D1620CEC0ED}" sibTransId="{90B57FD5-B7BB-49BD-B2CC-143D98D2D09A}"/>
    <dgm:cxn modelId="{E14CC434-A645-4DBB-B277-5544A067B3A3}" srcId="{495260D6-BC55-40BB-A640-22EE8C3C97F3}" destId="{52326233-A188-4E6D-B156-ADB6978E0587}" srcOrd="3" destOrd="0" parTransId="{FAD44E3C-AB40-41E3-9308-4C095DFC3E62}" sibTransId="{82871867-5A61-4DD3-AF5A-C73F1C22D722}"/>
    <dgm:cxn modelId="{50CDFE38-6485-4273-AE0C-FEE8A9C05293}" type="presOf" srcId="{E163FB23-9848-4072-880E-4495134E3C21}" destId="{EFF12ABD-37DD-45F4-81A1-C058A80000B4}" srcOrd="0" destOrd="0" presId="urn:microsoft.com/office/officeart/2005/8/layout/venn1"/>
    <dgm:cxn modelId="{610AC665-D090-4251-8CD6-4D4863E02427}" type="presOf" srcId="{67A2196C-9533-439B-82E8-1C935121463B}" destId="{44EC9CCF-87BD-477F-9808-D3BF01B0176D}" srcOrd="1" destOrd="0" presId="urn:microsoft.com/office/officeart/2005/8/layout/venn1"/>
    <dgm:cxn modelId="{C74A7172-98E4-49F8-AB39-A6BDA6822791}" type="presOf" srcId="{67A2196C-9533-439B-82E8-1C935121463B}" destId="{416CA621-C747-4BF3-8A8E-B5B71A3294F9}" srcOrd="0" destOrd="0" presId="urn:microsoft.com/office/officeart/2005/8/layout/venn1"/>
    <dgm:cxn modelId="{5E15047A-613B-4D11-9A30-0C15CA7BA817}" type="presOf" srcId="{52326233-A188-4E6D-B156-ADB6978E0587}" destId="{581FEB8E-C37C-4CCA-8D51-2935656B3995}" srcOrd="0" destOrd="0" presId="urn:microsoft.com/office/officeart/2005/8/layout/venn1"/>
    <dgm:cxn modelId="{39C0538F-6EF3-4C3C-8EC7-FEAAC9A8C204}" srcId="{495260D6-BC55-40BB-A640-22EE8C3C97F3}" destId="{67A2196C-9533-439B-82E8-1C935121463B}" srcOrd="2" destOrd="0" parTransId="{B93049C9-2471-4CDB-AAAE-30E69AABF76C}" sibTransId="{B70774B2-303F-46E0-A960-2BDB484DD8E5}"/>
    <dgm:cxn modelId="{4881D78F-ABA8-4946-ADB6-B2901ABF13F4}" type="presOf" srcId="{E163FB23-9848-4072-880E-4495134E3C21}" destId="{01FD8AEE-D784-4A11-96FC-F8BE98DBD701}" srcOrd="1" destOrd="0" presId="urn:microsoft.com/office/officeart/2005/8/layout/venn1"/>
    <dgm:cxn modelId="{761C6F9E-87F8-41E0-9561-51801D0C926A}" type="presOf" srcId="{F35FC94B-53CF-4DAB-8BD9-C96A8CE5C9FE}" destId="{A80CFDA0-C06F-4C73-A1B0-270057E3EDDB}" srcOrd="1" destOrd="0" presId="urn:microsoft.com/office/officeart/2005/8/layout/venn1"/>
    <dgm:cxn modelId="{9BE3D7A2-6792-48D3-A818-F2C5072A3D3C}" type="presOf" srcId="{F35FC94B-53CF-4DAB-8BD9-C96A8CE5C9FE}" destId="{1964C26F-DBE2-4CA4-BDFA-F230C1D53D24}" srcOrd="0" destOrd="0" presId="urn:microsoft.com/office/officeart/2005/8/layout/venn1"/>
    <dgm:cxn modelId="{140744E6-4F2B-4EBB-91C0-4BC415CC4792}" type="presOf" srcId="{52326233-A188-4E6D-B156-ADB6978E0587}" destId="{63A3E2E4-E3A4-4A06-8F4B-D430D647CE2E}" srcOrd="1" destOrd="0" presId="urn:microsoft.com/office/officeart/2005/8/layout/venn1"/>
    <dgm:cxn modelId="{562879F5-0F09-4953-88FA-99FB077789F3}" srcId="{495260D6-BC55-40BB-A640-22EE8C3C97F3}" destId="{E163FB23-9848-4072-880E-4495134E3C21}" srcOrd="0" destOrd="0" parTransId="{B957E225-18B0-49AD-9F58-A8F896C71B1F}" sibTransId="{A3A69E0A-56E5-4F70-ABCB-2AD571E227DD}"/>
    <dgm:cxn modelId="{8BE78201-13E9-41A2-812E-2202F1E9C547}" type="presParOf" srcId="{BEFAD923-1708-48AC-9D31-D4DF0380010E}" destId="{EFF12ABD-37DD-45F4-81A1-C058A80000B4}" srcOrd="0" destOrd="0" presId="urn:microsoft.com/office/officeart/2005/8/layout/venn1"/>
    <dgm:cxn modelId="{F5E53397-39D0-4A8D-A218-F0FA9F0E61FD}" type="presParOf" srcId="{BEFAD923-1708-48AC-9D31-D4DF0380010E}" destId="{01FD8AEE-D784-4A11-96FC-F8BE98DBD701}" srcOrd="1" destOrd="0" presId="urn:microsoft.com/office/officeart/2005/8/layout/venn1"/>
    <dgm:cxn modelId="{D9B06C77-44FC-46CC-A0E7-E18FA5E30E1A}" type="presParOf" srcId="{BEFAD923-1708-48AC-9D31-D4DF0380010E}" destId="{1964C26F-DBE2-4CA4-BDFA-F230C1D53D24}" srcOrd="2" destOrd="0" presId="urn:microsoft.com/office/officeart/2005/8/layout/venn1"/>
    <dgm:cxn modelId="{A27E6FA0-887B-43B1-8151-9BB6F4A831B2}" type="presParOf" srcId="{BEFAD923-1708-48AC-9D31-D4DF0380010E}" destId="{A80CFDA0-C06F-4C73-A1B0-270057E3EDDB}" srcOrd="3" destOrd="0" presId="urn:microsoft.com/office/officeart/2005/8/layout/venn1"/>
    <dgm:cxn modelId="{48B02F62-8E7F-4EBE-BE6C-3EE90EF917A1}" type="presParOf" srcId="{BEFAD923-1708-48AC-9D31-D4DF0380010E}" destId="{416CA621-C747-4BF3-8A8E-B5B71A3294F9}" srcOrd="4" destOrd="0" presId="urn:microsoft.com/office/officeart/2005/8/layout/venn1"/>
    <dgm:cxn modelId="{F1D838B2-6FA7-4949-B615-42E7DE47BFB5}" type="presParOf" srcId="{BEFAD923-1708-48AC-9D31-D4DF0380010E}" destId="{44EC9CCF-87BD-477F-9808-D3BF01B0176D}" srcOrd="5" destOrd="0" presId="urn:microsoft.com/office/officeart/2005/8/layout/venn1"/>
    <dgm:cxn modelId="{DE16758B-2CCE-4515-9A45-CA6FD18D58E8}" type="presParOf" srcId="{BEFAD923-1708-48AC-9D31-D4DF0380010E}" destId="{581FEB8E-C37C-4CCA-8D51-2935656B3995}" srcOrd="6" destOrd="0" presId="urn:microsoft.com/office/officeart/2005/8/layout/venn1"/>
    <dgm:cxn modelId="{747E12C4-E9ED-4E37-B711-980A26A3748D}" type="presParOf" srcId="{BEFAD923-1708-48AC-9D31-D4DF0380010E}" destId="{63A3E2E4-E3A4-4A06-8F4B-D430D647CE2E}" srcOrd="7" destOrd="0" presId="urn:microsoft.com/office/officeart/2005/8/layout/ven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51F59A-25FF-4D17-ACB3-8ADCCC77187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DCBB04D9-DFAA-4F9F-8C5D-E86442FD4777}">
      <dgm:prSet phldrT="[Text]" custT="1"/>
      <dgm:spPr/>
      <dgm:t>
        <a:bodyPr/>
        <a:lstStyle/>
        <a:p>
          <a:r>
            <a:rPr lang="en-US" sz="2000" dirty="0"/>
            <a:t>Visual &amp; Schema Inspection</a:t>
          </a:r>
        </a:p>
        <a:p>
          <a:r>
            <a:rPr lang="en-US" sz="1800" b="1" dirty="0"/>
            <a:t>(Data Cleanliness check)</a:t>
          </a:r>
          <a:endParaRPr lang="en-IN" sz="2000" b="1" dirty="0"/>
        </a:p>
      </dgm:t>
    </dgm:pt>
    <dgm:pt modelId="{7DA82A5D-C689-4488-B688-D25493FC0928}" type="parTrans" cxnId="{1BD68F9B-5A47-470B-854C-87AB8D0F5264}">
      <dgm:prSet/>
      <dgm:spPr/>
      <dgm:t>
        <a:bodyPr/>
        <a:lstStyle/>
        <a:p>
          <a:endParaRPr lang="en-IN" sz="1200"/>
        </a:p>
      </dgm:t>
    </dgm:pt>
    <dgm:pt modelId="{160F8B4F-7CEB-4C8A-9AD7-283DD73CC51C}" type="sibTrans" cxnId="{1BD68F9B-5A47-470B-854C-87AB8D0F5264}">
      <dgm:prSet/>
      <dgm:spPr/>
      <dgm:t>
        <a:bodyPr/>
        <a:lstStyle/>
        <a:p>
          <a:endParaRPr lang="en-IN" sz="1200"/>
        </a:p>
      </dgm:t>
    </dgm:pt>
    <dgm:pt modelId="{1F21244E-CC02-4307-81C9-A9C070FD8B29}">
      <dgm:prSet phldrT="[Text]" custT="1"/>
      <dgm:spPr/>
      <dgm:t>
        <a:bodyPr/>
        <a:lstStyle/>
        <a:p>
          <a:pPr algn="l"/>
          <a:r>
            <a:rPr lang="en-US" sz="2000" kern="1200" dirty="0">
              <a:latin typeface="Calibri" panose="020F0502020204030204"/>
              <a:ea typeface="+mn-ea"/>
              <a:cs typeface="+mn-cs"/>
            </a:rPr>
            <a:t>Statistical</a:t>
          </a:r>
          <a:r>
            <a:rPr lang="en-US" sz="1800" kern="1200" dirty="0"/>
            <a:t> Distribution</a:t>
          </a:r>
        </a:p>
        <a:p>
          <a:pPr algn="l"/>
          <a:r>
            <a:rPr lang="en-US" sz="1600" b="1" kern="1200" dirty="0"/>
            <a:t>(Skewness &amp; Kurtosis Evaluation)</a:t>
          </a:r>
          <a:endParaRPr lang="en-IN" sz="1800" kern="1200" dirty="0"/>
        </a:p>
      </dgm:t>
    </dgm:pt>
    <dgm:pt modelId="{07FF9C6E-D167-4BA5-8F3C-D06FBD157AC8}" type="parTrans" cxnId="{209A9429-8890-404F-9064-7BC263DE7624}">
      <dgm:prSet/>
      <dgm:spPr/>
      <dgm:t>
        <a:bodyPr/>
        <a:lstStyle/>
        <a:p>
          <a:endParaRPr lang="en-IN" sz="1200"/>
        </a:p>
      </dgm:t>
    </dgm:pt>
    <dgm:pt modelId="{FCC87661-959D-4699-8D6D-59A2CB63647C}" type="sibTrans" cxnId="{209A9429-8890-404F-9064-7BC263DE7624}">
      <dgm:prSet/>
      <dgm:spPr/>
      <dgm:t>
        <a:bodyPr/>
        <a:lstStyle/>
        <a:p>
          <a:endParaRPr lang="en-IN" sz="1200"/>
        </a:p>
      </dgm:t>
    </dgm:pt>
    <dgm:pt modelId="{52A04B8E-BB64-4E66-A55E-1034D48FAEEB}">
      <dgm:prSet phldrT="[Text]" custT="1"/>
      <dgm:spPr/>
      <dgm:t>
        <a:bodyPr/>
        <a:lstStyle/>
        <a:p>
          <a:r>
            <a:rPr lang="en-US" sz="2000" dirty="0"/>
            <a:t>Advanced EDA (1D, 2D, 3D)</a:t>
          </a:r>
        </a:p>
        <a:p>
          <a:r>
            <a:rPr lang="en-US" sz="1800" b="1" dirty="0"/>
            <a:t>(Behavioral &amp; Financial Insights)</a:t>
          </a:r>
          <a:endParaRPr lang="en-IN" sz="1800" b="1" dirty="0"/>
        </a:p>
      </dgm:t>
    </dgm:pt>
    <dgm:pt modelId="{A262DFEC-3640-4FB2-A6B1-1CB78F66BAA6}" type="parTrans" cxnId="{ABDEFE21-72E8-438F-9DE1-AE260973D5BD}">
      <dgm:prSet/>
      <dgm:spPr/>
      <dgm:t>
        <a:bodyPr/>
        <a:lstStyle/>
        <a:p>
          <a:endParaRPr lang="en-IN" sz="1200"/>
        </a:p>
      </dgm:t>
    </dgm:pt>
    <dgm:pt modelId="{5FFB46EB-6B81-424E-B03E-235299FEF0DC}" type="sibTrans" cxnId="{ABDEFE21-72E8-438F-9DE1-AE260973D5BD}">
      <dgm:prSet/>
      <dgm:spPr/>
      <dgm:t>
        <a:bodyPr/>
        <a:lstStyle/>
        <a:p>
          <a:endParaRPr lang="en-IN" sz="1200"/>
        </a:p>
      </dgm:t>
    </dgm:pt>
    <dgm:pt modelId="{F85305E8-BCE1-4033-8D00-A6BED505E1D9}" type="pres">
      <dgm:prSet presAssocID="{0F51F59A-25FF-4D17-ACB3-8ADCCC771872}" presName="linear" presStyleCnt="0">
        <dgm:presLayoutVars>
          <dgm:dir/>
          <dgm:animLvl val="lvl"/>
          <dgm:resizeHandles val="exact"/>
        </dgm:presLayoutVars>
      </dgm:prSet>
      <dgm:spPr/>
    </dgm:pt>
    <dgm:pt modelId="{D1B0FCFA-5E39-4964-85D4-8B3920448B56}" type="pres">
      <dgm:prSet presAssocID="{DCBB04D9-DFAA-4F9F-8C5D-E86442FD4777}" presName="parentLin" presStyleCnt="0"/>
      <dgm:spPr/>
    </dgm:pt>
    <dgm:pt modelId="{92334103-3839-423A-88A8-A825D549EAFB}" type="pres">
      <dgm:prSet presAssocID="{DCBB04D9-DFAA-4F9F-8C5D-E86442FD4777}" presName="parentLeftMargin" presStyleLbl="node1" presStyleIdx="0" presStyleCnt="3"/>
      <dgm:spPr/>
    </dgm:pt>
    <dgm:pt modelId="{5516C2F5-6FB9-4AF3-9099-0CFBF30BA6A7}" type="pres">
      <dgm:prSet presAssocID="{DCBB04D9-DFAA-4F9F-8C5D-E86442FD477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CF9FBE2-B0CE-43E0-BD6A-F0D8184EFCD6}" type="pres">
      <dgm:prSet presAssocID="{DCBB04D9-DFAA-4F9F-8C5D-E86442FD4777}" presName="negativeSpace" presStyleCnt="0"/>
      <dgm:spPr/>
    </dgm:pt>
    <dgm:pt modelId="{ECE6C6D3-71F0-4211-88CA-8DDECB3EB799}" type="pres">
      <dgm:prSet presAssocID="{DCBB04D9-DFAA-4F9F-8C5D-E86442FD4777}" presName="childText" presStyleLbl="conFgAcc1" presStyleIdx="0" presStyleCnt="3">
        <dgm:presLayoutVars>
          <dgm:bulletEnabled val="1"/>
        </dgm:presLayoutVars>
      </dgm:prSet>
      <dgm:spPr/>
    </dgm:pt>
    <dgm:pt modelId="{80BBE949-594A-46B4-8B7E-6B2B36FD916F}" type="pres">
      <dgm:prSet presAssocID="{160F8B4F-7CEB-4C8A-9AD7-283DD73CC51C}" presName="spaceBetweenRectangles" presStyleCnt="0"/>
      <dgm:spPr/>
    </dgm:pt>
    <dgm:pt modelId="{867DCB2D-7B55-4A94-8254-1E7CC6A2F04D}" type="pres">
      <dgm:prSet presAssocID="{1F21244E-CC02-4307-81C9-A9C070FD8B29}" presName="parentLin" presStyleCnt="0"/>
      <dgm:spPr/>
    </dgm:pt>
    <dgm:pt modelId="{77AF0944-F911-4180-9390-A676766B0BF7}" type="pres">
      <dgm:prSet presAssocID="{1F21244E-CC02-4307-81C9-A9C070FD8B29}" presName="parentLeftMargin" presStyleLbl="node1" presStyleIdx="0" presStyleCnt="3"/>
      <dgm:spPr/>
    </dgm:pt>
    <dgm:pt modelId="{4F5FCECE-09EF-44DA-861A-75D263474BCD}" type="pres">
      <dgm:prSet presAssocID="{1F21244E-CC02-4307-81C9-A9C070FD8B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D86AAF-AE72-4D1C-B230-24B514EE7AFF}" type="pres">
      <dgm:prSet presAssocID="{1F21244E-CC02-4307-81C9-A9C070FD8B29}" presName="negativeSpace" presStyleCnt="0"/>
      <dgm:spPr/>
    </dgm:pt>
    <dgm:pt modelId="{26EB7BC5-4D02-4341-9E75-160CCBB79F21}" type="pres">
      <dgm:prSet presAssocID="{1F21244E-CC02-4307-81C9-A9C070FD8B29}" presName="childText" presStyleLbl="conFgAcc1" presStyleIdx="1" presStyleCnt="3">
        <dgm:presLayoutVars>
          <dgm:bulletEnabled val="1"/>
        </dgm:presLayoutVars>
      </dgm:prSet>
      <dgm:spPr/>
    </dgm:pt>
    <dgm:pt modelId="{F10E792C-4DD2-4EF7-9F4C-DBFED7574148}" type="pres">
      <dgm:prSet presAssocID="{FCC87661-959D-4699-8D6D-59A2CB63647C}" presName="spaceBetweenRectangles" presStyleCnt="0"/>
      <dgm:spPr/>
    </dgm:pt>
    <dgm:pt modelId="{AD89B15B-2ABC-4586-95A9-A7432C627188}" type="pres">
      <dgm:prSet presAssocID="{52A04B8E-BB64-4E66-A55E-1034D48FAEEB}" presName="parentLin" presStyleCnt="0"/>
      <dgm:spPr/>
    </dgm:pt>
    <dgm:pt modelId="{3A97DEAF-FDCA-437E-B813-48BA53F78155}" type="pres">
      <dgm:prSet presAssocID="{52A04B8E-BB64-4E66-A55E-1034D48FAEEB}" presName="parentLeftMargin" presStyleLbl="node1" presStyleIdx="1" presStyleCnt="3"/>
      <dgm:spPr/>
    </dgm:pt>
    <dgm:pt modelId="{F85C2EEA-EEBD-49F6-AAB7-FF9772491D0B}" type="pres">
      <dgm:prSet presAssocID="{52A04B8E-BB64-4E66-A55E-1034D48FAEE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BD8FA64-32AD-4505-A838-699BE97497B1}" type="pres">
      <dgm:prSet presAssocID="{52A04B8E-BB64-4E66-A55E-1034D48FAEEB}" presName="negativeSpace" presStyleCnt="0"/>
      <dgm:spPr/>
    </dgm:pt>
    <dgm:pt modelId="{96B45BAB-6B88-494A-8050-CA649077B5DB}" type="pres">
      <dgm:prSet presAssocID="{52A04B8E-BB64-4E66-A55E-1034D48FAEE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30E401F-B7CB-4E77-B778-5D74FC1F9BCE}" type="presOf" srcId="{52A04B8E-BB64-4E66-A55E-1034D48FAEEB}" destId="{F85C2EEA-EEBD-49F6-AAB7-FF9772491D0B}" srcOrd="1" destOrd="0" presId="urn:microsoft.com/office/officeart/2005/8/layout/list1"/>
    <dgm:cxn modelId="{ABDEFE21-72E8-438F-9DE1-AE260973D5BD}" srcId="{0F51F59A-25FF-4D17-ACB3-8ADCCC771872}" destId="{52A04B8E-BB64-4E66-A55E-1034D48FAEEB}" srcOrd="2" destOrd="0" parTransId="{A262DFEC-3640-4FB2-A6B1-1CB78F66BAA6}" sibTransId="{5FFB46EB-6B81-424E-B03E-235299FEF0DC}"/>
    <dgm:cxn modelId="{209A9429-8890-404F-9064-7BC263DE7624}" srcId="{0F51F59A-25FF-4D17-ACB3-8ADCCC771872}" destId="{1F21244E-CC02-4307-81C9-A9C070FD8B29}" srcOrd="1" destOrd="0" parTransId="{07FF9C6E-D167-4BA5-8F3C-D06FBD157AC8}" sibTransId="{FCC87661-959D-4699-8D6D-59A2CB63647C}"/>
    <dgm:cxn modelId="{CA15A23A-C562-465B-85E8-11D31C2C2075}" type="presOf" srcId="{DCBB04D9-DFAA-4F9F-8C5D-E86442FD4777}" destId="{5516C2F5-6FB9-4AF3-9099-0CFBF30BA6A7}" srcOrd="1" destOrd="0" presId="urn:microsoft.com/office/officeart/2005/8/layout/list1"/>
    <dgm:cxn modelId="{2B622867-8D72-42FE-BAC1-26ECEB7D3AFC}" type="presOf" srcId="{52A04B8E-BB64-4E66-A55E-1034D48FAEEB}" destId="{3A97DEAF-FDCA-437E-B813-48BA53F78155}" srcOrd="0" destOrd="0" presId="urn:microsoft.com/office/officeart/2005/8/layout/list1"/>
    <dgm:cxn modelId="{571A8285-19D3-452D-BB8A-DA63A8C26A71}" type="presOf" srcId="{0F51F59A-25FF-4D17-ACB3-8ADCCC771872}" destId="{F85305E8-BCE1-4033-8D00-A6BED505E1D9}" srcOrd="0" destOrd="0" presId="urn:microsoft.com/office/officeart/2005/8/layout/list1"/>
    <dgm:cxn modelId="{1BD68F9B-5A47-470B-854C-87AB8D0F5264}" srcId="{0F51F59A-25FF-4D17-ACB3-8ADCCC771872}" destId="{DCBB04D9-DFAA-4F9F-8C5D-E86442FD4777}" srcOrd="0" destOrd="0" parTransId="{7DA82A5D-C689-4488-B688-D25493FC0928}" sibTransId="{160F8B4F-7CEB-4C8A-9AD7-283DD73CC51C}"/>
    <dgm:cxn modelId="{8BD4F29D-50B4-466D-B246-C0CA426480D1}" type="presOf" srcId="{1F21244E-CC02-4307-81C9-A9C070FD8B29}" destId="{4F5FCECE-09EF-44DA-861A-75D263474BCD}" srcOrd="1" destOrd="0" presId="urn:microsoft.com/office/officeart/2005/8/layout/list1"/>
    <dgm:cxn modelId="{599F3CBE-604C-4504-91D8-746DDBCCE6F4}" type="presOf" srcId="{DCBB04D9-DFAA-4F9F-8C5D-E86442FD4777}" destId="{92334103-3839-423A-88A8-A825D549EAFB}" srcOrd="0" destOrd="0" presId="urn:microsoft.com/office/officeart/2005/8/layout/list1"/>
    <dgm:cxn modelId="{A73548EF-EFB4-4010-B9FF-37FD082BD1D4}" type="presOf" srcId="{1F21244E-CC02-4307-81C9-A9C070FD8B29}" destId="{77AF0944-F911-4180-9390-A676766B0BF7}" srcOrd="0" destOrd="0" presId="urn:microsoft.com/office/officeart/2005/8/layout/list1"/>
    <dgm:cxn modelId="{5EBD3735-9201-4B6F-8BA7-8DAC0699333B}" type="presParOf" srcId="{F85305E8-BCE1-4033-8D00-A6BED505E1D9}" destId="{D1B0FCFA-5E39-4964-85D4-8B3920448B56}" srcOrd="0" destOrd="0" presId="urn:microsoft.com/office/officeart/2005/8/layout/list1"/>
    <dgm:cxn modelId="{1E05C6FE-7373-43D9-9F07-929D7E62804C}" type="presParOf" srcId="{D1B0FCFA-5E39-4964-85D4-8B3920448B56}" destId="{92334103-3839-423A-88A8-A825D549EAFB}" srcOrd="0" destOrd="0" presId="urn:microsoft.com/office/officeart/2005/8/layout/list1"/>
    <dgm:cxn modelId="{39B037BF-4464-4673-9C81-1B8C2D26F795}" type="presParOf" srcId="{D1B0FCFA-5E39-4964-85D4-8B3920448B56}" destId="{5516C2F5-6FB9-4AF3-9099-0CFBF30BA6A7}" srcOrd="1" destOrd="0" presId="urn:microsoft.com/office/officeart/2005/8/layout/list1"/>
    <dgm:cxn modelId="{6D5BCA41-6C5F-4C23-929B-EDF90563AA0A}" type="presParOf" srcId="{F85305E8-BCE1-4033-8D00-A6BED505E1D9}" destId="{6CF9FBE2-B0CE-43E0-BD6A-F0D8184EFCD6}" srcOrd="1" destOrd="0" presId="urn:microsoft.com/office/officeart/2005/8/layout/list1"/>
    <dgm:cxn modelId="{0EBCB010-200A-49A5-804A-A532801EF434}" type="presParOf" srcId="{F85305E8-BCE1-4033-8D00-A6BED505E1D9}" destId="{ECE6C6D3-71F0-4211-88CA-8DDECB3EB799}" srcOrd="2" destOrd="0" presId="urn:microsoft.com/office/officeart/2005/8/layout/list1"/>
    <dgm:cxn modelId="{4E1D8A71-8DF6-4EC3-9EE5-36C8ED1D55B6}" type="presParOf" srcId="{F85305E8-BCE1-4033-8D00-A6BED505E1D9}" destId="{80BBE949-594A-46B4-8B7E-6B2B36FD916F}" srcOrd="3" destOrd="0" presId="urn:microsoft.com/office/officeart/2005/8/layout/list1"/>
    <dgm:cxn modelId="{EA744776-CDC3-4624-AC78-858538E3D827}" type="presParOf" srcId="{F85305E8-BCE1-4033-8D00-A6BED505E1D9}" destId="{867DCB2D-7B55-4A94-8254-1E7CC6A2F04D}" srcOrd="4" destOrd="0" presId="urn:microsoft.com/office/officeart/2005/8/layout/list1"/>
    <dgm:cxn modelId="{955808DA-74D2-4BF3-A02E-1BEC535C78B7}" type="presParOf" srcId="{867DCB2D-7B55-4A94-8254-1E7CC6A2F04D}" destId="{77AF0944-F911-4180-9390-A676766B0BF7}" srcOrd="0" destOrd="0" presId="urn:microsoft.com/office/officeart/2005/8/layout/list1"/>
    <dgm:cxn modelId="{ABAF736D-C259-4894-A10F-B48DADF874FC}" type="presParOf" srcId="{867DCB2D-7B55-4A94-8254-1E7CC6A2F04D}" destId="{4F5FCECE-09EF-44DA-861A-75D263474BCD}" srcOrd="1" destOrd="0" presId="urn:microsoft.com/office/officeart/2005/8/layout/list1"/>
    <dgm:cxn modelId="{6ECA5BF2-FDBA-4DE5-9945-A94DE72A23A3}" type="presParOf" srcId="{F85305E8-BCE1-4033-8D00-A6BED505E1D9}" destId="{9AD86AAF-AE72-4D1C-B230-24B514EE7AFF}" srcOrd="5" destOrd="0" presId="urn:microsoft.com/office/officeart/2005/8/layout/list1"/>
    <dgm:cxn modelId="{39EB759C-843D-4DB6-98C6-373D9D1044B4}" type="presParOf" srcId="{F85305E8-BCE1-4033-8D00-A6BED505E1D9}" destId="{26EB7BC5-4D02-4341-9E75-160CCBB79F21}" srcOrd="6" destOrd="0" presId="urn:microsoft.com/office/officeart/2005/8/layout/list1"/>
    <dgm:cxn modelId="{8FAF8F4B-F46B-4D5B-926C-7F91958BEE13}" type="presParOf" srcId="{F85305E8-BCE1-4033-8D00-A6BED505E1D9}" destId="{F10E792C-4DD2-4EF7-9F4C-DBFED7574148}" srcOrd="7" destOrd="0" presId="urn:microsoft.com/office/officeart/2005/8/layout/list1"/>
    <dgm:cxn modelId="{C885FE57-9087-4796-A2BA-019E5546F89D}" type="presParOf" srcId="{F85305E8-BCE1-4033-8D00-A6BED505E1D9}" destId="{AD89B15B-2ABC-4586-95A9-A7432C627188}" srcOrd="8" destOrd="0" presId="urn:microsoft.com/office/officeart/2005/8/layout/list1"/>
    <dgm:cxn modelId="{44E0A145-8C63-475D-AEB4-DF38A1D68B00}" type="presParOf" srcId="{AD89B15B-2ABC-4586-95A9-A7432C627188}" destId="{3A97DEAF-FDCA-437E-B813-48BA53F78155}" srcOrd="0" destOrd="0" presId="urn:microsoft.com/office/officeart/2005/8/layout/list1"/>
    <dgm:cxn modelId="{469E2885-8F1C-446D-99C5-41A330F2F250}" type="presParOf" srcId="{AD89B15B-2ABC-4586-95A9-A7432C627188}" destId="{F85C2EEA-EEBD-49F6-AAB7-FF9772491D0B}" srcOrd="1" destOrd="0" presId="urn:microsoft.com/office/officeart/2005/8/layout/list1"/>
    <dgm:cxn modelId="{4A78EE01-11FD-45E5-9F64-D82DCEFF67C5}" type="presParOf" srcId="{F85305E8-BCE1-4033-8D00-A6BED505E1D9}" destId="{FBD8FA64-32AD-4505-A838-699BE97497B1}" srcOrd="9" destOrd="0" presId="urn:microsoft.com/office/officeart/2005/8/layout/list1"/>
    <dgm:cxn modelId="{70172238-3D79-48E2-8351-E774BCB26213}" type="presParOf" srcId="{F85305E8-BCE1-4033-8D00-A6BED505E1D9}" destId="{96B45BAB-6B88-494A-8050-CA649077B5D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12ABD-37DD-45F4-81A1-C058A80000B4}">
      <dsp:nvSpPr>
        <dsp:cNvPr id="0" name=""/>
        <dsp:cNvSpPr/>
      </dsp:nvSpPr>
      <dsp:spPr>
        <a:xfrm>
          <a:off x="1443369" y="59002"/>
          <a:ext cx="3068153" cy="306815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Pandas</a:t>
          </a:r>
          <a:endParaRPr lang="en-IN" sz="2400" b="1" kern="1200"/>
        </a:p>
      </dsp:txBody>
      <dsp:txXfrm>
        <a:off x="1797386" y="472023"/>
        <a:ext cx="2360118" cy="973548"/>
      </dsp:txXfrm>
    </dsp:sp>
    <dsp:sp modelId="{1964C26F-DBE2-4CA4-BDFA-F230C1D53D24}">
      <dsp:nvSpPr>
        <dsp:cNvPr id="0" name=""/>
        <dsp:cNvSpPr/>
      </dsp:nvSpPr>
      <dsp:spPr>
        <a:xfrm>
          <a:off x="2800437" y="1416071"/>
          <a:ext cx="3068153" cy="3068153"/>
        </a:xfrm>
        <a:prstGeom prst="ellipse">
          <a:avLst/>
        </a:prstGeom>
        <a:solidFill>
          <a:schemeClr val="accent2">
            <a:alpha val="50000"/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Numpy</a:t>
          </a:r>
          <a:endParaRPr lang="en-IN" sz="2400" b="1" kern="1200"/>
        </a:p>
      </dsp:txBody>
      <dsp:txXfrm>
        <a:off x="4452520" y="1770088"/>
        <a:ext cx="1180059" cy="2360118"/>
      </dsp:txXfrm>
    </dsp:sp>
    <dsp:sp modelId="{416CA621-C747-4BF3-8A8E-B5B71A3294F9}">
      <dsp:nvSpPr>
        <dsp:cNvPr id="0" name=""/>
        <dsp:cNvSpPr/>
      </dsp:nvSpPr>
      <dsp:spPr>
        <a:xfrm>
          <a:off x="1443369" y="2773139"/>
          <a:ext cx="3068153" cy="3068153"/>
        </a:xfrm>
        <a:prstGeom prst="ellipse">
          <a:avLst/>
        </a:prstGeom>
        <a:solidFill>
          <a:schemeClr val="accent2">
            <a:alpha val="50000"/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Matplotlib</a:t>
          </a:r>
          <a:endParaRPr lang="en-IN" sz="2400" b="1" kern="1200" dirty="0"/>
        </a:p>
      </dsp:txBody>
      <dsp:txXfrm>
        <a:off x="1797386" y="4454723"/>
        <a:ext cx="2360118" cy="973548"/>
      </dsp:txXfrm>
    </dsp:sp>
    <dsp:sp modelId="{581FEB8E-C37C-4CCA-8D51-2935656B3995}">
      <dsp:nvSpPr>
        <dsp:cNvPr id="0" name=""/>
        <dsp:cNvSpPr/>
      </dsp:nvSpPr>
      <dsp:spPr>
        <a:xfrm>
          <a:off x="86300" y="1416071"/>
          <a:ext cx="3068153" cy="3068153"/>
        </a:xfrm>
        <a:prstGeom prst="ellipse">
          <a:avLst/>
        </a:prstGeom>
        <a:solidFill>
          <a:schemeClr val="accent2">
            <a:alpha val="50000"/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Seaborn</a:t>
          </a:r>
          <a:endParaRPr lang="en-IN" sz="2400" b="1" kern="1200"/>
        </a:p>
      </dsp:txBody>
      <dsp:txXfrm>
        <a:off x="322312" y="1770088"/>
        <a:ext cx="1180059" cy="2360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6C6D3-71F0-4211-88CA-8DDECB3EB799}">
      <dsp:nvSpPr>
        <dsp:cNvPr id="0" name=""/>
        <dsp:cNvSpPr/>
      </dsp:nvSpPr>
      <dsp:spPr>
        <a:xfrm>
          <a:off x="0" y="388329"/>
          <a:ext cx="542991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6C2F5-6FB9-4AF3-9099-0CFBF30BA6A7}">
      <dsp:nvSpPr>
        <dsp:cNvPr id="0" name=""/>
        <dsp:cNvSpPr/>
      </dsp:nvSpPr>
      <dsp:spPr>
        <a:xfrm>
          <a:off x="271495" y="19329"/>
          <a:ext cx="3800942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667" tIns="0" rIns="14366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Visual &amp; Schema Inspection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(Data Cleanliness check)</a:t>
          </a:r>
          <a:endParaRPr lang="en-IN" sz="2000" b="1" kern="1200" dirty="0"/>
        </a:p>
      </dsp:txBody>
      <dsp:txXfrm>
        <a:off x="307521" y="55355"/>
        <a:ext cx="3728890" cy="665948"/>
      </dsp:txXfrm>
    </dsp:sp>
    <dsp:sp modelId="{26EB7BC5-4D02-4341-9E75-160CCBB79F21}">
      <dsp:nvSpPr>
        <dsp:cNvPr id="0" name=""/>
        <dsp:cNvSpPr/>
      </dsp:nvSpPr>
      <dsp:spPr>
        <a:xfrm>
          <a:off x="0" y="1522329"/>
          <a:ext cx="542991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FCECE-09EF-44DA-861A-75D263474BCD}">
      <dsp:nvSpPr>
        <dsp:cNvPr id="0" name=""/>
        <dsp:cNvSpPr/>
      </dsp:nvSpPr>
      <dsp:spPr>
        <a:xfrm>
          <a:off x="271495" y="1153329"/>
          <a:ext cx="3800942" cy="73800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667" tIns="0" rIns="14366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libri" panose="020F0502020204030204"/>
              <a:ea typeface="+mn-ea"/>
              <a:cs typeface="+mn-cs"/>
            </a:rPr>
            <a:t>Statistical</a:t>
          </a:r>
          <a:r>
            <a:rPr lang="en-US" sz="1800" kern="1200" dirty="0"/>
            <a:t> Distribution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(Skewness &amp; Kurtosis Evaluation)</a:t>
          </a:r>
          <a:endParaRPr lang="en-IN" sz="1800" kern="1200" dirty="0"/>
        </a:p>
      </dsp:txBody>
      <dsp:txXfrm>
        <a:off x="307521" y="1189355"/>
        <a:ext cx="3728890" cy="665948"/>
      </dsp:txXfrm>
    </dsp:sp>
    <dsp:sp modelId="{96B45BAB-6B88-494A-8050-CA649077B5DB}">
      <dsp:nvSpPr>
        <dsp:cNvPr id="0" name=""/>
        <dsp:cNvSpPr/>
      </dsp:nvSpPr>
      <dsp:spPr>
        <a:xfrm>
          <a:off x="0" y="2656329"/>
          <a:ext cx="5429918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5C2EEA-EEBD-49F6-AAB7-FF9772491D0B}">
      <dsp:nvSpPr>
        <dsp:cNvPr id="0" name=""/>
        <dsp:cNvSpPr/>
      </dsp:nvSpPr>
      <dsp:spPr>
        <a:xfrm>
          <a:off x="271495" y="2287329"/>
          <a:ext cx="3800942" cy="73800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667" tIns="0" rIns="14366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Advanced EDA (1D, 2D, 3D)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(Behavioral &amp; Financial Insights)</a:t>
          </a:r>
          <a:endParaRPr lang="en-IN" sz="1800" b="1" kern="1200" dirty="0"/>
        </a:p>
      </dsp:txBody>
      <dsp:txXfrm>
        <a:off x="307521" y="2323355"/>
        <a:ext cx="3728890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3DAF0-C7D2-40E7-8490-5C70B9BE06AC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E546F-7D54-400A-B31C-AB62D3D9C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898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E546F-7D54-400A-B31C-AB62D3D9CEF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15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02F2-8663-45C8-9C1B-AEFA81A36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2C46AA-E8DC-4E11-ADE7-78CDED32F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70B73-5550-4551-A1FF-7147953B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481D5-5AD7-4C4A-BD27-3DA089B9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61FAA-F0A1-412E-AEBE-CC72972BD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49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AB80-63E4-4FC9-BEF6-16BEF12D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7CE93-4722-4EF4-A0B5-880B50465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CCEAC-399A-475E-A626-A9AD1FFCD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CD5A-2344-4BED-BF6B-BD9D5EFA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0E407-50C7-4937-B2F4-EF94A788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23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B15B-B1B7-4FB8-9249-24C7A1472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CFE01-2074-44DB-8837-C76A6AEDC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1BF33-CFF9-4498-B845-32CF0621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40519-FF08-4B51-94E0-D43619EB6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429E-F892-4E7A-BE0C-BC0CF79E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92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1A04-AEDB-4797-89A6-DF629726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2BB9B-CF13-4E51-B4E8-5D19C4651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39698-E16D-4ED8-908B-E3E15B74A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2FA28-9A27-41DF-8315-5E021B1D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8E60C-97D6-40BE-B6E2-44B9C1BF0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47476-5676-4D3D-ABA7-393C1044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5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7008-9E13-4AB7-985D-76086D21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8C7F6-CFB1-4541-86B1-8B72DB7D4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61190-7686-460D-892E-60C4B5971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B1E2B-DACD-4FDA-9F86-2DFAB5DCF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B6A01-A968-43A0-9907-67BF769D8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302150-EE75-473F-8EA7-21CCE463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461C1-31FD-4AC0-BEDD-D6CC35519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D40B5-3097-4F41-9215-A898CF29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22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BF208-2408-45B9-80D2-C8B5B26B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14CE7-FE86-4E92-9DBF-7F64C164B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09558-5ED9-4460-83E6-C391B685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2F80E-3B79-4096-888B-B4E65441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79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76BBF-3B30-4A89-A928-7DC8508B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B4280-56BC-4E18-88C7-D239167B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12313-30A3-4A37-8C87-7F920507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28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EFC8-1580-4B2C-938B-228C5C8A9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B49BA-DDC0-41CE-9BD3-839B86C6A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46A25-95A2-4254-AF50-11FC90F53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9D8C2-0322-41B3-82FF-B6FA8D4B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CECE7-D0A6-4DA2-9B5F-C091ABC3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1623F-07AF-44B6-9B64-3782D90C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83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335A-5569-447F-8CB3-024C2111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CC618-8E3A-421A-ACF8-71AC0D589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72A25-9E1B-48EF-A481-88D31CD2E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BA557-BDED-4BD8-9352-335E7CC56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C415E-C587-48E4-996F-6E0D036C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AEC6D-C961-46CA-9A1C-7F44E1D3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2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C285-5D50-47E0-880B-042B630A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9FE54-99BA-4FA3-8FFD-2A97F4656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E9B1E-F249-45EC-BB68-184A09A59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CC5E3-8C30-40DE-966E-E86F30DB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271C3-EF12-49C6-9106-E1CE7EC3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55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B51862-B8CB-4A63-90AA-813EF9F49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46067-E4A6-423F-8A90-FFE29C0BF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DF11-0792-41CF-99DD-DFD55129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5C144-75A1-4D76-B243-1CC29776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63802-F7A9-4D3E-B401-6A72F675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057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25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593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73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662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764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195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108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655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90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3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574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83839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298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980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172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963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2480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5277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999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2625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8650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9716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485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7170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8393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7770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0359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8044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46134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499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2120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6294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624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4568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3482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0319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181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94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063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7370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2334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2319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7027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1639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18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90720-8FAC-4DCB-BB1E-2781C20D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78089-5215-499F-9749-B5F62BD92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E5236-2A53-40AA-9ECC-9EDA645B7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C2F1-81EE-4531-8F5F-827CD1C59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B33A7-A433-4C6A-9ACC-D5AADC550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18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087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4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FEDFDB5-AB2B-41B1-B335-3B318222AEA0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FD228C1-2057-4551-8976-4AFC96C5A08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92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6E6A00D-ED7B-477B-AD33-C7471E044E61}"/>
              </a:ext>
            </a:extLst>
          </p:cNvPr>
          <p:cNvSpPr/>
          <p:nvPr/>
        </p:nvSpPr>
        <p:spPr>
          <a:xfrm>
            <a:off x="8903252" y="-736327"/>
            <a:ext cx="3810000" cy="3810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C19524-8A44-48A6-8D1B-861485CA0FBE}"/>
              </a:ext>
            </a:extLst>
          </p:cNvPr>
          <p:cNvSpPr/>
          <p:nvPr/>
        </p:nvSpPr>
        <p:spPr>
          <a:xfrm>
            <a:off x="-1568138" y="4999973"/>
            <a:ext cx="3556000" cy="35560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EB4F50-8FDA-4785-95E6-EF98791E714F}"/>
              </a:ext>
            </a:extLst>
          </p:cNvPr>
          <p:cNvSpPr/>
          <p:nvPr/>
        </p:nvSpPr>
        <p:spPr>
          <a:xfrm>
            <a:off x="1995457" y="1388557"/>
            <a:ext cx="3223790" cy="3223790"/>
          </a:xfrm>
          <a:prstGeom prst="ellipse">
            <a:avLst/>
          </a:prstGeom>
          <a:solidFill>
            <a:srgbClr val="C00000">
              <a:alpha val="32000"/>
            </a:srgb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5F4F0-8B38-4753-A50C-3B9808803984}"/>
              </a:ext>
            </a:extLst>
          </p:cNvPr>
          <p:cNvSpPr txBox="1"/>
          <p:nvPr/>
        </p:nvSpPr>
        <p:spPr>
          <a:xfrm>
            <a:off x="657450" y="655956"/>
            <a:ext cx="9954373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4000" b="1" dirty="0">
                <a:latin typeface="Calisto MT" panose="02040603050505030304" pitchFamily="18" charset="0"/>
              </a:rPr>
              <a:t>Comprehensive Exploratory Data Analysis (EDA) &amp; Retail Transaction Presentation</a:t>
            </a:r>
            <a:endParaRPr lang="en-IN" sz="4000" b="1" dirty="0">
              <a:solidFill>
                <a:schemeClr val="tx1">
                  <a:lumMod val="95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15" name="Arrow: Curved Up 14">
            <a:extLst>
              <a:ext uri="{FF2B5EF4-FFF2-40B4-BE49-F238E27FC236}">
                <a16:creationId xmlns:a16="http://schemas.microsoft.com/office/drawing/2014/main" id="{92453839-4408-4B61-98E0-543CA0D011B3}"/>
              </a:ext>
            </a:extLst>
          </p:cNvPr>
          <p:cNvSpPr/>
          <p:nvPr/>
        </p:nvSpPr>
        <p:spPr>
          <a:xfrm rot="3066960">
            <a:off x="1244857" y="4291634"/>
            <a:ext cx="2886176" cy="161565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FFE461-7B02-49DE-930C-A1522B7059B0}"/>
              </a:ext>
            </a:extLst>
          </p:cNvPr>
          <p:cNvSpPr/>
          <p:nvPr/>
        </p:nvSpPr>
        <p:spPr>
          <a:xfrm>
            <a:off x="867451" y="2744059"/>
            <a:ext cx="10457097" cy="1255237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glow rad="228600">
              <a:schemeClr val="accent1">
                <a:lumMod val="60000"/>
                <a:lumOff val="40000"/>
                <a:alpha val="40000"/>
              </a:schemeClr>
            </a:glow>
            <a:outerShdw blurRad="50800" dist="50800" dir="5400000" algn="ctr" rotWithShape="0">
              <a:schemeClr val="tx1"/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</a:rPr>
              <a:t>End-to-end Analysis of Retail Transactions</a:t>
            </a:r>
            <a:endParaRPr lang="en-IN" sz="4000" dirty="0">
              <a:solidFill>
                <a:schemeClr val="accent1">
                  <a:lumMod val="20000"/>
                  <a:lumOff val="8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83AF3-C454-4EA4-BF00-B474EB035B0A}"/>
              </a:ext>
            </a:extLst>
          </p:cNvPr>
          <p:cNvSpPr txBox="1"/>
          <p:nvPr/>
        </p:nvSpPr>
        <p:spPr>
          <a:xfrm>
            <a:off x="7098641" y="5805724"/>
            <a:ext cx="4899288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 panose="02030602050306030303" pitchFamily="18" charset="0"/>
                <a:cs typeface="Dubai" panose="020B0503030403030204" pitchFamily="34" charset="-78"/>
              </a:rPr>
              <a:t>S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 panose="02030602050306030303" pitchFamily="18" charset="0"/>
                <a:cs typeface="Dubai" panose="020B0503030403030204" pitchFamily="34" charset="-78"/>
              </a:rPr>
              <a:t>ubmitted By : Anjali Pandey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DFA1D-9F9D-47FB-BE52-D785F8F95D64}"/>
              </a:ext>
            </a:extLst>
          </p:cNvPr>
          <p:cNvSpPr txBox="1"/>
          <p:nvPr/>
        </p:nvSpPr>
        <p:spPr>
          <a:xfrm>
            <a:off x="4017364" y="5102951"/>
            <a:ext cx="776604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3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Project </a:t>
            </a:r>
            <a:r>
              <a:rPr lang="en-IN" sz="3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Assigned By : NextHikes  Solutions</a:t>
            </a: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AEEF77B1-DD9D-4090-A9E2-7D7EAFDDD3A3}"/>
              </a:ext>
            </a:extLst>
          </p:cNvPr>
          <p:cNvSpPr/>
          <p:nvPr/>
        </p:nvSpPr>
        <p:spPr>
          <a:xfrm>
            <a:off x="209862" y="209863"/>
            <a:ext cx="2190990" cy="2459973"/>
          </a:xfrm>
          <a:prstGeom prst="halfFrame">
            <a:avLst>
              <a:gd name="adj1" fmla="val 5966"/>
              <a:gd name="adj2" fmla="val 528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BA87B949-6809-4A69-9096-5C1A237D5595}"/>
              </a:ext>
            </a:extLst>
          </p:cNvPr>
          <p:cNvSpPr/>
          <p:nvPr/>
        </p:nvSpPr>
        <p:spPr>
          <a:xfrm rot="16200000" flipV="1">
            <a:off x="9682777" y="4308917"/>
            <a:ext cx="2190990" cy="2459973"/>
          </a:xfrm>
          <a:prstGeom prst="halfFrame">
            <a:avLst>
              <a:gd name="adj1" fmla="val 5966"/>
              <a:gd name="adj2" fmla="val 528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508617-2D9F-43AE-9FF6-D01FEC15DEDF}"/>
              </a:ext>
            </a:extLst>
          </p:cNvPr>
          <p:cNvCxnSpPr/>
          <p:nvPr/>
        </p:nvCxnSpPr>
        <p:spPr>
          <a:xfrm>
            <a:off x="4017364" y="6619409"/>
            <a:ext cx="7766042" cy="0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5193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owchart: Manual Input 34">
            <a:extLst>
              <a:ext uri="{FF2B5EF4-FFF2-40B4-BE49-F238E27FC236}">
                <a16:creationId xmlns:a16="http://schemas.microsoft.com/office/drawing/2014/main" id="{1348DF4F-72E4-4EE3-8688-1ABACD29350B}"/>
              </a:ext>
            </a:extLst>
          </p:cNvPr>
          <p:cNvSpPr/>
          <p:nvPr/>
        </p:nvSpPr>
        <p:spPr>
          <a:xfrm rot="5400000" flipH="1">
            <a:off x="-731722" y="721451"/>
            <a:ext cx="6853997" cy="5390552"/>
          </a:xfrm>
          <a:prstGeom prst="flowChartManualInpu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alpha val="91000"/>
                </a:schemeClr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51BB5A1-2071-498D-8F21-0DCE9B442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324481"/>
              </p:ext>
            </p:extLst>
          </p:nvPr>
        </p:nvGraphicFramePr>
        <p:xfrm>
          <a:off x="6096000" y="478852"/>
          <a:ext cx="5954892" cy="5900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1519B52-4E9E-49C8-B6D0-B7BF45B657E9}"/>
              </a:ext>
            </a:extLst>
          </p:cNvPr>
          <p:cNvSpPr/>
          <p:nvPr/>
        </p:nvSpPr>
        <p:spPr>
          <a:xfrm>
            <a:off x="-564339" y="782932"/>
            <a:ext cx="5954892" cy="1862048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en-US" sz="11500" dirty="0">
                <a:latin typeface="Britannic Bold" panose="020B0903060703020204" pitchFamily="34" charset="0"/>
              </a:rPr>
              <a:t>PYTHON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C6852E-62C1-4BE9-8DAC-F17B0B1D3108}"/>
              </a:ext>
            </a:extLst>
          </p:cNvPr>
          <p:cNvSpPr/>
          <p:nvPr/>
        </p:nvSpPr>
        <p:spPr>
          <a:xfrm>
            <a:off x="285761" y="2816562"/>
            <a:ext cx="425469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7200" dirty="0">
                <a:solidFill>
                  <a:schemeClr val="accent2">
                    <a:lumMod val="50000"/>
                  </a:schemeClr>
                </a:solidFill>
                <a:latin typeface="Eras Bold ITC" panose="020B0907030504020204" pitchFamily="34" charset="0"/>
              </a:rPr>
              <a:t>Libraries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E8B23D-A02E-494D-B580-29A957792FE9}"/>
              </a:ext>
            </a:extLst>
          </p:cNvPr>
          <p:cNvSpPr/>
          <p:nvPr/>
        </p:nvSpPr>
        <p:spPr>
          <a:xfrm>
            <a:off x="304837" y="3821023"/>
            <a:ext cx="21082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5400" dirty="0">
                <a:solidFill>
                  <a:srgbClr val="C00000"/>
                </a:solidFill>
                <a:latin typeface="Arial Black" panose="020B0A04020102020204" pitchFamily="34" charset="0"/>
              </a:rPr>
              <a:t>Used</a:t>
            </a:r>
          </a:p>
        </p:txBody>
      </p:sp>
    </p:spTree>
    <p:extLst>
      <p:ext uri="{BB962C8B-B14F-4D97-AF65-F5344CB8AC3E}">
        <p14:creationId xmlns:p14="http://schemas.microsoft.com/office/powerpoint/2010/main" val="3061224990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466EB7D-64AD-40AF-B468-167D3F40E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43" y="946966"/>
            <a:ext cx="584454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This project presents an in-depth Exploratory Data Analysis (EDA) performed on a large-scale retail transaction dataset comprising </a:t>
            </a:r>
            <a:r>
              <a:rPr lang="en-US" b="1" dirty="0"/>
              <a:t>100,000 distinct order records</a:t>
            </a:r>
            <a:r>
              <a:rPr lang="en-US" dirty="0"/>
              <a:t>. Utilizing Univariate, Bivariate, and Multivariate statistical techniques, the study extracts operational, financial, and demographic insights to drive data-informed strategies for revenue optimization, customer retention, and logistics efficiency.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3771C64-BACD-4FB5-ABA0-3F8A7CFDC306}"/>
              </a:ext>
            </a:extLst>
          </p:cNvPr>
          <p:cNvSpPr/>
          <p:nvPr/>
        </p:nvSpPr>
        <p:spPr>
          <a:xfrm flipH="1">
            <a:off x="2344616" y="-239619"/>
            <a:ext cx="9847384" cy="7666885"/>
          </a:xfrm>
          <a:prstGeom prst="rtTriangle">
            <a:avLst/>
          </a:prstGeom>
          <a:gradFill flip="none" rotWithShape="1">
            <a:gsLst>
              <a:gs pos="0">
                <a:srgbClr val="FFFAEB"/>
              </a:gs>
              <a:gs pos="50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D6BAEF87-FCA8-488D-8004-D9FB4D23D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9886418"/>
              </p:ext>
            </p:extLst>
          </p:nvPr>
        </p:nvGraphicFramePr>
        <p:xfrm>
          <a:off x="6367364" y="1152475"/>
          <a:ext cx="5429918" cy="3305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19C59DD7-767C-43E1-BB53-5AC35D12A125}"/>
              </a:ext>
            </a:extLst>
          </p:cNvPr>
          <p:cNvSpPr/>
          <p:nvPr/>
        </p:nvSpPr>
        <p:spPr>
          <a:xfrm>
            <a:off x="6110180" y="149565"/>
            <a:ext cx="58785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[Raw Retail Dataset] (100,000 Records)</a:t>
            </a:r>
            <a:endParaRPr lang="en-US" sz="2400" b="1" cap="none" spc="0" dirty="0">
              <a:ln w="0"/>
              <a:solidFill>
                <a:schemeClr val="accent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C65D8F3D-FB22-4252-9785-4E3C37AB2CAD}"/>
              </a:ext>
            </a:extLst>
          </p:cNvPr>
          <p:cNvSpPr/>
          <p:nvPr/>
        </p:nvSpPr>
        <p:spPr>
          <a:xfrm>
            <a:off x="8384872" y="629255"/>
            <a:ext cx="242293" cy="52322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48A85467-7EAC-4E69-AB43-D80BB86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63" y="3593824"/>
            <a:ext cx="6268765" cy="147732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Total Observations:</a:t>
            </a:r>
            <a:r>
              <a:rPr lang="en-IN" dirty="0"/>
              <a:t> 100,000 rows</a:t>
            </a:r>
          </a:p>
          <a:p>
            <a:r>
              <a:rPr lang="en-IN" b="1" dirty="0"/>
              <a:t>Total Features:</a:t>
            </a:r>
            <a:r>
              <a:rPr lang="en-IN" dirty="0"/>
              <a:t> 18 attributes (Categorical, Numerical, Datetime)</a:t>
            </a:r>
          </a:p>
          <a:p>
            <a:r>
              <a:rPr lang="en-IN" b="1" dirty="0"/>
              <a:t>Missing Values:</a:t>
            </a:r>
            <a:r>
              <a:rPr lang="en-IN" dirty="0"/>
              <a:t> 0 null entries across all fields</a:t>
            </a:r>
          </a:p>
          <a:p>
            <a:r>
              <a:rPr lang="en-IN" b="1" dirty="0"/>
              <a:t>Duplicate Records:</a:t>
            </a:r>
            <a:r>
              <a:rPr lang="en-IN" dirty="0"/>
              <a:t> 0 duplicated rows</a:t>
            </a:r>
          </a:p>
          <a:p>
            <a:r>
              <a:rPr lang="en-IN" b="1" dirty="0"/>
              <a:t>Dataset Memory Usage:</a:t>
            </a:r>
            <a:r>
              <a:rPr lang="en-IN" dirty="0"/>
              <a:t> ~13.7+ MB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ADA5078-A0FB-4B51-88DF-A2CB727BA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087" y="5230209"/>
            <a:ext cx="94954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/>
              <a:t>pd.read_excel</a:t>
            </a:r>
            <a:r>
              <a:rPr lang="en-US" altLang="en-US" b="1" dirty="0"/>
              <a:t>(): </a:t>
            </a:r>
            <a:r>
              <a:rPr lang="en-US" altLang="en-US" dirty="0"/>
              <a:t>Loads the primary retail transaction dataset from an Excel spreadsheet into a pandas </a:t>
            </a:r>
            <a:r>
              <a:rPr lang="en-US" altLang="en-US" dirty="0" err="1"/>
              <a:t>DataFrame</a:t>
            </a:r>
            <a:r>
              <a:rPr lang="en-US" altLang="en-US" dirty="0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/>
              <a:t>df.shape</a:t>
            </a:r>
            <a:r>
              <a:rPr lang="en-US" altLang="en-US" dirty="0"/>
              <a:t>: Returns the dimensional tuple $(100000, 18)$ to verify dataset size.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df.info(): </a:t>
            </a:r>
            <a:r>
              <a:rPr lang="en-US" altLang="en-US" dirty="0"/>
              <a:t>Inspects column schema, data types (int64, float64, datetime64[ns], object), and non-null value counts.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2870A7-373C-4494-9B0D-44A8A19DB9A3}"/>
              </a:ext>
            </a:extLst>
          </p:cNvPr>
          <p:cNvSpPr/>
          <p:nvPr/>
        </p:nvSpPr>
        <p:spPr>
          <a:xfrm>
            <a:off x="75764" y="3019693"/>
            <a:ext cx="39084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  <a:latin typeface="Bahnschrift SemiBold SemiConden" panose="020B0502040204020203" pitchFamily="34" charset="0"/>
              </a:rPr>
              <a:t>Key Dataset Output &amp; Metadata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C56A3C-A16D-448A-89CE-C5C9245A8552}"/>
              </a:ext>
            </a:extLst>
          </p:cNvPr>
          <p:cNvCxnSpPr>
            <a:cxnSpLocks/>
          </p:cNvCxnSpPr>
          <p:nvPr/>
        </p:nvCxnSpPr>
        <p:spPr>
          <a:xfrm>
            <a:off x="171982" y="3046197"/>
            <a:ext cx="555295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36B45D-BCBD-4BD1-B4A1-BBF43CC9BFC1}"/>
              </a:ext>
            </a:extLst>
          </p:cNvPr>
          <p:cNvCxnSpPr>
            <a:cxnSpLocks/>
          </p:cNvCxnSpPr>
          <p:nvPr/>
        </p:nvCxnSpPr>
        <p:spPr>
          <a:xfrm>
            <a:off x="171982" y="3507862"/>
            <a:ext cx="555295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127A5C-19DB-4749-9FBA-B2D9CF9E5446}"/>
              </a:ext>
            </a:extLst>
          </p:cNvPr>
          <p:cNvCxnSpPr>
            <a:cxnSpLocks/>
          </p:cNvCxnSpPr>
          <p:nvPr/>
        </p:nvCxnSpPr>
        <p:spPr>
          <a:xfrm>
            <a:off x="1787422" y="5258792"/>
            <a:ext cx="7159219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69BA882-9C61-4E23-A71B-97D560B69F97}"/>
              </a:ext>
            </a:extLst>
          </p:cNvPr>
          <p:cNvSpPr/>
          <p:nvPr/>
        </p:nvSpPr>
        <p:spPr>
          <a:xfrm>
            <a:off x="206530" y="5230210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B3257-06C2-459C-9F24-1FBC1272B541}"/>
              </a:ext>
            </a:extLst>
          </p:cNvPr>
          <p:cNvSpPr txBox="1"/>
          <p:nvPr/>
        </p:nvSpPr>
        <p:spPr>
          <a:xfrm>
            <a:off x="173395" y="341996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000123091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2667000" y="5472"/>
            <a:ext cx="685800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/>
              <a:t>Data Architecture &amp; Schema Verification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119921" y="1793260"/>
            <a:ext cx="403235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Ensuring robust data integrity, all 18 attributes were verified for non-null completeness and correct type assignment. The dataset covers three primary domains: </a:t>
            </a:r>
            <a:r>
              <a:rPr lang="en-IN" sz="2000" b="1" dirty="0"/>
              <a:t>Customer Demographics</a:t>
            </a:r>
            <a:r>
              <a:rPr lang="en-IN" sz="2000" dirty="0"/>
              <a:t>, </a:t>
            </a:r>
            <a:r>
              <a:rPr lang="en-IN" sz="2000" b="1" dirty="0"/>
              <a:t>Order &amp; Product Attributes</a:t>
            </a:r>
            <a:r>
              <a:rPr lang="en-IN" sz="2000" dirty="0"/>
              <a:t>, and </a:t>
            </a:r>
            <a:r>
              <a:rPr lang="en-IN" sz="2000" b="1" dirty="0" err="1"/>
              <a:t>Fulfillment</a:t>
            </a:r>
            <a:r>
              <a:rPr lang="en-IN" sz="2000" b="1" dirty="0"/>
              <a:t> &amp; Financial Metrics</a:t>
            </a:r>
            <a:r>
              <a:rPr lang="en-IN" sz="2000" dirty="0"/>
              <a:t>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121" y="5337663"/>
            <a:ext cx="890786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df.head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Examines top 5 records to inspect initial values and field formatting.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df.tail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US" altLang="en-US" sz="2000" dirty="0"/>
              <a:t>Examines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final 5 records to confirm data consistency across the index range.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df.isnull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().sum()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Sums missing entries per variable, validating zero missing values.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119921" y="1345772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D0A896-8F53-4CE8-95AA-754EF5847B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4" t="40793" r="43153" b="5872"/>
          <a:stretch/>
        </p:blipFill>
        <p:spPr>
          <a:xfrm>
            <a:off x="4392118" y="1203731"/>
            <a:ext cx="7507140" cy="39904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2667000" y="513121"/>
            <a:ext cx="68580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000" dirty="0"/>
              <a:t>Schema Validation &amp; Column Data Types</a:t>
            </a:r>
            <a:endParaRPr lang="en-IN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0" y="5282188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1727462" y="5331362"/>
            <a:ext cx="7159219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503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2667000" y="5472"/>
            <a:ext cx="685800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/>
              <a:t>Statistical Summary &amp; Distribution Dynamics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119921" y="1793260"/>
            <a:ext cx="62280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Summary statistics establish the baseline spread, central tendencies, and bounds across all continuous and discrete quantitative variables in the retail ecosystem.</a:t>
            </a:r>
            <a:endParaRPr lang="en-IN" sz="20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57" y="5429530"/>
            <a:ext cx="817552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df.describe</a:t>
            </a:r>
            <a:r>
              <a:rPr lang="en-US" altLang="en-US" sz="2000" b="1" dirty="0"/>
              <a:t>(): </a:t>
            </a:r>
            <a:r>
              <a:rPr lang="en-US" altLang="en-US" sz="2000" dirty="0"/>
              <a:t>Generates aggregate statistical summaries for all numeric features.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df.duplicated</a:t>
            </a:r>
            <a:r>
              <a:rPr lang="en-US" altLang="en-US" sz="2000" b="1" dirty="0"/>
              <a:t>().sum(): </a:t>
            </a:r>
            <a:r>
              <a:rPr lang="en-US" altLang="en-US" sz="2000" dirty="0"/>
              <a:t>Checks for identical transaction entries across rows.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119921" y="1345772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2667000" y="513121"/>
            <a:ext cx="68580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000" dirty="0"/>
              <a:t>Descriptive Statistics of Numerical Metrics</a:t>
            </a:r>
            <a:endParaRPr lang="en-IN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0" y="5282188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1727462" y="5331362"/>
            <a:ext cx="7159219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C7F48-1815-49C3-BA4E-B23619C25311}"/>
              </a:ext>
            </a:extLst>
          </p:cNvPr>
          <p:cNvSpPr/>
          <p:nvPr/>
        </p:nvSpPr>
        <p:spPr>
          <a:xfrm>
            <a:off x="6750810" y="1820867"/>
            <a:ext cx="519611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/>
              <a:t>Age Range:</a:t>
            </a:r>
            <a:r>
              <a:rPr lang="en-US" sz="2000" dirty="0"/>
              <a:t> Customers span uniformly across adult demographics, averaging ~41.5 years.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Basket Size:</a:t>
            </a:r>
            <a:r>
              <a:rPr lang="en-US" sz="2000" dirty="0"/>
              <a:t> Quantity purchased ranges uniformly between 1 and 4 units per transaction.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Discount Spread:</a:t>
            </a:r>
            <a:r>
              <a:rPr lang="en-US" sz="2000" dirty="0"/>
              <a:t> Promotional discounts are uniformly distributed from 0% up to 30%.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Final Bill Amount:</a:t>
            </a:r>
            <a:r>
              <a:rPr lang="en-US" sz="2000" dirty="0"/>
              <a:t> Average transaction value stands at ₹64,165.72 with substantial variance up to ₹239,980.00 due to combined volume and item pricing.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F89B9B-AB0C-439A-9C72-17A6F18AA1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79" b="39486"/>
          <a:stretch/>
        </p:blipFill>
        <p:spPr>
          <a:xfrm>
            <a:off x="250549" y="2939711"/>
            <a:ext cx="6228013" cy="2121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B0C10E-325A-47B6-B3BE-8B630597882B}"/>
              </a:ext>
            </a:extLst>
          </p:cNvPr>
          <p:cNvSpPr txBox="1"/>
          <p:nvPr/>
        </p:nvSpPr>
        <p:spPr>
          <a:xfrm>
            <a:off x="6850743" y="1265027"/>
            <a:ext cx="326571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Key Observations</a:t>
            </a:r>
          </a:p>
        </p:txBody>
      </p:sp>
    </p:spTree>
    <p:extLst>
      <p:ext uri="{BB962C8B-B14F-4D97-AF65-F5344CB8AC3E}">
        <p14:creationId xmlns:p14="http://schemas.microsoft.com/office/powerpoint/2010/main" val="1924400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2667000" y="5472"/>
            <a:ext cx="685800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/>
              <a:t>Shape Analysis — Skewness &amp; Kurtosis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119921" y="1590064"/>
            <a:ext cx="63679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Evaluating skewness and kurtosis provides statistical insights into distribution symmetry, tail thickness, and potential outlier behavior.</a:t>
            </a:r>
            <a:endParaRPr lang="en-IN" sz="20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57" y="5420782"/>
            <a:ext cx="850112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df.select_dtypes</a:t>
            </a:r>
            <a:r>
              <a:rPr lang="en-US" altLang="en-US" sz="2000" b="1" dirty="0"/>
              <a:t>(include=['number']): </a:t>
            </a:r>
            <a:r>
              <a:rPr lang="en-US" altLang="en-US" sz="2000" dirty="0"/>
              <a:t>Filters numerical columns for higher-order statistical testing.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num_cols.skew</a:t>
            </a:r>
            <a:r>
              <a:rPr lang="en-US" altLang="en-US" sz="2000" b="1" dirty="0"/>
              <a:t>(): </a:t>
            </a:r>
            <a:r>
              <a:rPr lang="en-US" altLang="en-US" sz="2000" dirty="0"/>
              <a:t>Calculates relative sample skewness.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num_cols.kurtosis</a:t>
            </a:r>
            <a:r>
              <a:rPr lang="en-US" altLang="en-US" sz="2000" b="1" dirty="0"/>
              <a:t>(): </a:t>
            </a:r>
            <a:r>
              <a:rPr lang="en-US" altLang="en-US" sz="2000" dirty="0"/>
              <a:t>Computes excess kurtosis values.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119921" y="1171604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2667000" y="513121"/>
            <a:ext cx="68580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000" dirty="0"/>
              <a:t>Distribution Shape Diagnostics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0" y="5369272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1727462" y="5403932"/>
            <a:ext cx="7159219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C7F48-1815-49C3-BA4E-B23619C25311}"/>
              </a:ext>
            </a:extLst>
          </p:cNvPr>
          <p:cNvSpPr/>
          <p:nvPr/>
        </p:nvSpPr>
        <p:spPr>
          <a:xfrm>
            <a:off x="6655636" y="2041472"/>
            <a:ext cx="530580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Variables with skewness near $0$ and negative kurtosis ($\</a:t>
            </a:r>
            <a:r>
              <a:rPr lang="en-US" altLang="en-US" sz="2000" dirty="0" err="1"/>
              <a:t>approx</a:t>
            </a:r>
            <a:r>
              <a:rPr lang="en-US" altLang="en-US" sz="2000" dirty="0"/>
              <a:t> -1.2$) reflect uniform distribution designs in customer profile generation and baseline pricing structures.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/>
              <a:t>final_price</a:t>
            </a:r>
            <a:r>
              <a:rPr lang="en-US" altLang="en-US" sz="2000" dirty="0"/>
              <a:t> exhibits a distinct </a:t>
            </a:r>
            <a:r>
              <a:rPr lang="en-US" altLang="en-US" sz="2000" b="1" dirty="0"/>
              <a:t>positive skew (+0.935)</a:t>
            </a:r>
            <a:r>
              <a:rPr lang="en-US" altLang="en-US" sz="2000" dirty="0"/>
              <a:t> resulting from compounding multiplication ($\text{price} \times \text{quantity} \times (1 - \text{discount})$).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0C10E-325A-47B6-B3BE-8B630597882B}"/>
              </a:ext>
            </a:extLst>
          </p:cNvPr>
          <p:cNvSpPr txBox="1"/>
          <p:nvPr/>
        </p:nvSpPr>
        <p:spPr>
          <a:xfrm>
            <a:off x="6749144" y="1221485"/>
            <a:ext cx="5096182" cy="830997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 anchor="ctr">
            <a:spAutoFit/>
          </a:bodyPr>
          <a:lstStyle>
            <a:defPPr>
              <a:defRPr lang="en-US"/>
            </a:defPPr>
            <a:lvl1pPr algn="ctr">
              <a:defRPr sz="280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en-US" sz="2400" dirty="0"/>
              <a:t>Key Statistical Analytical Takeaways</a:t>
            </a:r>
          </a:p>
          <a:p>
            <a:endParaRPr lang="en-US" altLang="en-US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B17194-8CBB-40CD-AFC8-3FAAB20F68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8" t="63944" r="53077" b="1"/>
          <a:stretch/>
        </p:blipFill>
        <p:spPr>
          <a:xfrm>
            <a:off x="198738" y="3133459"/>
            <a:ext cx="4936524" cy="20775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AF6B9F3-6C60-4131-82B2-82F3C0053109}"/>
              </a:ext>
            </a:extLst>
          </p:cNvPr>
          <p:cNvSpPr/>
          <p:nvPr/>
        </p:nvSpPr>
        <p:spPr>
          <a:xfrm>
            <a:off x="128964" y="2576899"/>
            <a:ext cx="4554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  <a:latin typeface="Bahnschrift SemiBold SemiConden" panose="020B0502040204020203" pitchFamily="34" charset="0"/>
              </a:rPr>
              <a:t>Skewness &amp; Kurtosis Output Metrics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4E476E-F78A-4DFF-971D-5EC585484479}"/>
              </a:ext>
            </a:extLst>
          </p:cNvPr>
          <p:cNvCxnSpPr>
            <a:cxnSpLocks/>
          </p:cNvCxnSpPr>
          <p:nvPr/>
        </p:nvCxnSpPr>
        <p:spPr>
          <a:xfrm>
            <a:off x="171982" y="3046197"/>
            <a:ext cx="555295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7E7C6E-2C3E-4F97-9DF1-DDA5F9E0FCDC}"/>
              </a:ext>
            </a:extLst>
          </p:cNvPr>
          <p:cNvCxnSpPr>
            <a:cxnSpLocks/>
          </p:cNvCxnSpPr>
          <p:nvPr/>
        </p:nvCxnSpPr>
        <p:spPr>
          <a:xfrm>
            <a:off x="198738" y="2605727"/>
            <a:ext cx="555295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769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2667000" y="5472"/>
            <a:ext cx="685800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/>
              <a:t>Univariate Analysis — Customer Demographics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119920" y="1590064"/>
            <a:ext cx="59760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Analyzing customer age distributions and gender ratios reveals the baseline composition of the buyer base.</a:t>
            </a:r>
            <a:endParaRPr lang="en-IN" sz="20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57" y="5728559"/>
            <a:ext cx="85011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latin typeface="Arial Unicode MS" panose="020B0604020202020204" pitchFamily="34" charset="-128"/>
              </a:rPr>
              <a:t>sns.histplot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()</a:t>
            </a:r>
            <a:r>
              <a:rPr lang="en-US" altLang="en-US" sz="2000" b="1" dirty="0"/>
              <a:t> / </a:t>
            </a:r>
            <a:r>
              <a:rPr lang="en-US" altLang="en-US" sz="2000" b="1" dirty="0" err="1">
                <a:latin typeface="Arial Unicode MS" panose="020B0604020202020204" pitchFamily="34" charset="-128"/>
              </a:rPr>
              <a:t>plt.hist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()</a:t>
            </a:r>
            <a:r>
              <a:rPr lang="en-US" altLang="en-US" sz="2000" b="1" dirty="0"/>
              <a:t>: </a:t>
            </a:r>
            <a:r>
              <a:rPr lang="en-US" altLang="en-US" sz="2000" dirty="0"/>
              <a:t>Visualizes numerical continuous distributions for </a:t>
            </a:r>
            <a:r>
              <a:rPr lang="en-US" altLang="en-US" sz="2000" dirty="0">
                <a:latin typeface="Arial Unicode MS" panose="020B0604020202020204" pitchFamily="34" charset="-128"/>
              </a:rPr>
              <a:t>age</a:t>
            </a:r>
            <a:r>
              <a:rPr lang="en-US" altLang="en-US" sz="2000" dirty="0"/>
              <a:t>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latin typeface="Arial Unicode MS" panose="020B0604020202020204" pitchFamily="34" charset="-128"/>
              </a:rPr>
              <a:t>sns.countplot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()</a:t>
            </a:r>
            <a:r>
              <a:rPr lang="en-US" altLang="en-US" sz="2000" b="1" dirty="0"/>
              <a:t>: </a:t>
            </a:r>
            <a:r>
              <a:rPr lang="en-US" altLang="en-US" sz="2000" dirty="0"/>
              <a:t>Visualizes categorical frequency across </a:t>
            </a:r>
            <a:r>
              <a:rPr lang="en-US" altLang="en-US" sz="2000" dirty="0">
                <a:latin typeface="Arial Unicode MS" panose="020B0604020202020204" pitchFamily="34" charset="-128"/>
              </a:rPr>
              <a:t>gender</a:t>
            </a:r>
            <a:r>
              <a:rPr lang="en-US" altLang="en-US" sz="2000" dirty="0"/>
              <a:t> levels.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119921" y="1171604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2667000" y="513121"/>
            <a:ext cx="68580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000" dirty="0"/>
              <a:t>Demographic Profiling: Age &amp; Gender Distribution</a:t>
            </a:r>
            <a:endParaRPr lang="en-IN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0" y="5369272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1727462" y="5403932"/>
            <a:ext cx="7159219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C7F48-1815-49C3-BA4E-B23619C25311}"/>
              </a:ext>
            </a:extLst>
          </p:cNvPr>
          <p:cNvSpPr/>
          <p:nvPr/>
        </p:nvSpPr>
        <p:spPr>
          <a:xfrm>
            <a:off x="6223000" y="2041472"/>
            <a:ext cx="57384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Age Spread:</a:t>
            </a:r>
            <a:r>
              <a:rPr lang="en-US" sz="2000" dirty="0"/>
              <a:t> Customer ages range continuously from 18 to 65 years. Balanced representation across young adults, middle-aged demographics, and senior buyers provides broad demographic targetability.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Gender Ratio:</a:t>
            </a:r>
            <a:r>
              <a:rPr lang="en-US" sz="2000" dirty="0"/>
              <a:t> Gender representation exhibits near-equal parity between Male and Female buyer categories, indicating gender-neutral brand positioning across retail categories.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0C10E-325A-47B6-B3BE-8B630597882B}"/>
              </a:ext>
            </a:extLst>
          </p:cNvPr>
          <p:cNvSpPr txBox="1"/>
          <p:nvPr/>
        </p:nvSpPr>
        <p:spPr>
          <a:xfrm>
            <a:off x="6544130" y="1237857"/>
            <a:ext cx="5096182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Analysis Findings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7BB38-FF85-4893-81C6-AB3F24C42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61" y="2405538"/>
            <a:ext cx="3566008" cy="27483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5358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2667000" y="5472"/>
            <a:ext cx="685800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800" dirty="0"/>
              <a:t>Univariate Analysis — Segment &amp; Geographic Reach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119921" y="1590064"/>
            <a:ext cx="63679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Examining geographic purchase locations and customer loyalty tiers highlights market footprint and engagement segments.</a:t>
            </a:r>
            <a:endParaRPr lang="en-IN" sz="20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57" y="5574671"/>
            <a:ext cx="850112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df['</a:t>
            </a:r>
            <a:r>
              <a:rPr lang="en-US" altLang="en-US" sz="2000" b="1" dirty="0" err="1"/>
              <a:t>customer_segment</a:t>
            </a:r>
            <a:r>
              <a:rPr lang="en-US" altLang="en-US" sz="2000" b="1" dirty="0"/>
              <a:t>'].</a:t>
            </a:r>
            <a:r>
              <a:rPr lang="en-US" altLang="en-US" sz="2000" b="1" dirty="0" err="1"/>
              <a:t>value_counts</a:t>
            </a:r>
            <a:r>
              <a:rPr lang="en-US" altLang="en-US" sz="2000" b="1" dirty="0"/>
              <a:t>(): </a:t>
            </a:r>
            <a:r>
              <a:rPr lang="en-US" altLang="en-US" sz="2000" dirty="0"/>
              <a:t>Quantifies transaction counts across segment tiers.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df['city'].</a:t>
            </a:r>
            <a:r>
              <a:rPr lang="en-US" altLang="en-US" sz="2000" b="1" dirty="0" err="1"/>
              <a:t>value_counts</a:t>
            </a:r>
            <a:r>
              <a:rPr lang="en-US" altLang="en-US" sz="2000" b="1" dirty="0"/>
              <a:t>(): </a:t>
            </a:r>
            <a:r>
              <a:rPr lang="en-US" altLang="en-US" sz="2000" dirty="0"/>
              <a:t>Calculates order volumes per geographic market.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119921" y="1171604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2667000" y="556663"/>
            <a:ext cx="68580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000" dirty="0"/>
              <a:t>Customer Tiering &amp; Regional Footprint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0" y="5369272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1727462" y="5403932"/>
            <a:ext cx="7159219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C7F48-1815-49C3-BA4E-B23619C25311}"/>
              </a:ext>
            </a:extLst>
          </p:cNvPr>
          <p:cNvSpPr/>
          <p:nvPr/>
        </p:nvSpPr>
        <p:spPr>
          <a:xfrm>
            <a:off x="6698787" y="1835381"/>
            <a:ext cx="518969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Customer Segment Distribution: </a:t>
            </a:r>
            <a:r>
              <a:rPr lang="en-US" altLang="en-US" sz="2000" dirty="0"/>
              <a:t>Transactions are well distributed across New, Regular, and Premium segments, indicating steady acquisition alongside strong retention.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Geographic Expansion: </a:t>
            </a:r>
            <a:r>
              <a:rPr lang="en-US" altLang="en-US" sz="2000" dirty="0"/>
              <a:t>Retail orders originate from major Tier-1 and Tier-2 Indian hubs including Mumbai, Pune, Hyderabad, Jaipur, Kolkata, and Chennai across states such as Maharashtra, Telangana, Rajasthan, West Bengal, and Tamil Nadu.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0C10E-325A-47B6-B3BE-8B630597882B}"/>
              </a:ext>
            </a:extLst>
          </p:cNvPr>
          <p:cNvSpPr txBox="1"/>
          <p:nvPr/>
        </p:nvSpPr>
        <p:spPr>
          <a:xfrm>
            <a:off x="6749144" y="1221485"/>
            <a:ext cx="5096182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Operational Analysis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3C5EF0-8CCB-4A95-900A-FD3AA46EE6E8}"/>
              </a:ext>
            </a:extLst>
          </p:cNvPr>
          <p:cNvGrpSpPr/>
          <p:nvPr/>
        </p:nvGrpSpPr>
        <p:grpSpPr>
          <a:xfrm>
            <a:off x="9866" y="2832587"/>
            <a:ext cx="6688478" cy="2103891"/>
            <a:chOff x="-18757" y="3232684"/>
            <a:chExt cx="6769148" cy="210389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27B8A5D-9876-4C26-B66F-F01A4B916F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3980"/>
            <a:stretch/>
          </p:blipFill>
          <p:spPr>
            <a:xfrm>
              <a:off x="-18757" y="3236305"/>
              <a:ext cx="6506644" cy="210027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E5B85D8-31BB-4565-8BE9-24CB4F4685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3059"/>
            <a:stretch/>
          </p:blipFill>
          <p:spPr>
            <a:xfrm>
              <a:off x="6225383" y="3232684"/>
              <a:ext cx="525008" cy="210027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49554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2667000" y="5472"/>
            <a:ext cx="685800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800" dirty="0"/>
              <a:t>Bivariate Analysis — Logistics &amp; Return </a:t>
            </a:r>
            <a:r>
              <a:rPr lang="en-US" sz="2800" dirty="0" err="1"/>
              <a:t>PerformanceRevenue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0" y="1483095"/>
            <a:ext cx="6553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Examining logistics performance reveals the relationship between shipping speed, delivery timelines, and product return outcomes.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57" y="5465488"/>
            <a:ext cx="922684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latin typeface="Arial Unicode MS" panose="020B0604020202020204" pitchFamily="34" charset="-128"/>
              </a:rPr>
              <a:t>sns.barplot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(x='</a:t>
            </a:r>
            <a:r>
              <a:rPr lang="en-US" altLang="en-US" sz="2000" b="1" dirty="0" err="1">
                <a:latin typeface="Arial Unicode MS" panose="020B0604020202020204" pitchFamily="34" charset="-128"/>
              </a:rPr>
              <a:t>shipping_type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', y='</a:t>
            </a:r>
            <a:r>
              <a:rPr lang="en-US" altLang="en-US" sz="2000" b="1" dirty="0" err="1">
                <a:latin typeface="Arial Unicode MS" panose="020B0604020202020204" pitchFamily="34" charset="-128"/>
              </a:rPr>
              <a:t>delivery_days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', hue='</a:t>
            </a:r>
            <a:r>
              <a:rPr lang="en-US" altLang="en-US" sz="2000" b="1" dirty="0" err="1">
                <a:latin typeface="Arial Unicode MS" panose="020B0604020202020204" pitchFamily="34" charset="-128"/>
              </a:rPr>
              <a:t>return_status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')</a:t>
            </a:r>
            <a:r>
              <a:rPr lang="en-US" altLang="en-US" sz="2000" b="1" dirty="0"/>
              <a:t>: </a:t>
            </a:r>
            <a:r>
              <a:rPr lang="en-US" altLang="en-US" sz="2000" dirty="0"/>
              <a:t>Evaluates logistics speed across fulfillment and return categories.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latin typeface="Arial Unicode MS" panose="020B0604020202020204" pitchFamily="34" charset="-128"/>
              </a:rPr>
              <a:t>pd.crosstab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(df['</a:t>
            </a:r>
            <a:r>
              <a:rPr lang="en-US" altLang="en-US" sz="2000" b="1" dirty="0" err="1">
                <a:latin typeface="Arial Unicode MS" panose="020B0604020202020204" pitchFamily="34" charset="-128"/>
              </a:rPr>
              <a:t>shipping_type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'], df['</a:t>
            </a:r>
            <a:r>
              <a:rPr lang="en-US" altLang="en-US" sz="2000" b="1" dirty="0" err="1">
                <a:latin typeface="Arial Unicode MS" panose="020B0604020202020204" pitchFamily="34" charset="-128"/>
              </a:rPr>
              <a:t>return_status</a:t>
            </a:r>
            <a:r>
              <a:rPr lang="en-US" altLang="en-US" sz="2000" b="1" dirty="0">
                <a:latin typeface="Arial Unicode MS" panose="020B0604020202020204" pitchFamily="34" charset="-128"/>
              </a:rPr>
              <a:t>'], normalize='index')</a:t>
            </a:r>
            <a:r>
              <a:rPr lang="en-US" altLang="en-US" sz="2000" b="1" dirty="0"/>
              <a:t>: </a:t>
            </a:r>
            <a:r>
              <a:rPr lang="en-US" altLang="en-US" sz="2000" dirty="0"/>
              <a:t>Measures return proportions relative to shipping modes.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108586" y="1091066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2667000" y="571177"/>
            <a:ext cx="68580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000" dirty="0"/>
              <a:t>Shipping Mode Performance &amp; Return Rate Dynamics</a:t>
            </a:r>
            <a:endParaRPr lang="en-IN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0" y="5369272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1727462" y="5403932"/>
            <a:ext cx="7159219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C7F48-1815-49C3-BA4E-B23619C25311}"/>
              </a:ext>
            </a:extLst>
          </p:cNvPr>
          <p:cNvSpPr/>
          <p:nvPr/>
        </p:nvSpPr>
        <p:spPr>
          <a:xfrm>
            <a:off x="6698787" y="1835381"/>
            <a:ext cx="518969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Delivery Days Range: </a:t>
            </a:r>
            <a:r>
              <a:rPr lang="en-US" altLang="en-US" sz="2000" dirty="0"/>
              <a:t>Delivery durations range from 1 to 10 days, with a median delivery window of 5 days.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Return Rate Balance:</a:t>
            </a:r>
            <a:r>
              <a:rPr lang="en-US" altLang="en-US" sz="2000" dirty="0"/>
              <a:t> Product returns (</a:t>
            </a:r>
            <a:r>
              <a:rPr lang="en-US" altLang="en-US" sz="2000" dirty="0" err="1"/>
              <a:t>return_status</a:t>
            </a:r>
            <a:r>
              <a:rPr lang="en-US" altLang="en-US" sz="2000" dirty="0"/>
              <a:t>) show consistency across fulfillment options, indicating that return propensity is independent of delivery timelines.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0C10E-325A-47B6-B3BE-8B630597882B}"/>
              </a:ext>
            </a:extLst>
          </p:cNvPr>
          <p:cNvSpPr txBox="1"/>
          <p:nvPr/>
        </p:nvSpPr>
        <p:spPr>
          <a:xfrm>
            <a:off x="6749144" y="1221485"/>
            <a:ext cx="5096182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Operational Metrics 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C46F3A-8487-40BB-AAF8-E33A7CA5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" y="2560313"/>
            <a:ext cx="4649477" cy="26370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1913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1949450" y="-10099"/>
            <a:ext cx="829310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/>
              <a:t>Multivariate Analysis — Discount &amp; Payment Dynamics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45306" y="1985148"/>
            <a:ext cx="217420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Analyzing three-way interactions across Customer Segment, Payment Method, and Discount Percentage illustrates promotional usage patterns across customer cohorts.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57" y="5465488"/>
            <a:ext cx="98945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df.groupby</a:t>
            </a:r>
            <a:r>
              <a:rPr lang="en-US" altLang="en-US" sz="2000" b="1" dirty="0"/>
              <a:t>(['</a:t>
            </a:r>
            <a:r>
              <a:rPr lang="en-US" altLang="en-US" sz="2000" b="1" dirty="0" err="1"/>
              <a:t>customer_segment</a:t>
            </a:r>
            <a:r>
              <a:rPr lang="en-US" altLang="en-US" sz="2000" b="1" dirty="0"/>
              <a:t>', '</a:t>
            </a:r>
            <a:r>
              <a:rPr lang="en-US" altLang="en-US" sz="2000" b="1" dirty="0" err="1"/>
              <a:t>payment_method</a:t>
            </a:r>
            <a:r>
              <a:rPr lang="en-US" altLang="en-US" sz="2000" b="1" dirty="0"/>
              <a:t>'])['</a:t>
            </a:r>
            <a:r>
              <a:rPr lang="en-US" altLang="en-US" sz="2000" b="1" dirty="0" err="1"/>
              <a:t>discount_percentage</a:t>
            </a:r>
            <a:r>
              <a:rPr lang="en-US" altLang="en-US" sz="2000" b="1" dirty="0"/>
              <a:t>'].mean(): </a:t>
            </a:r>
            <a:r>
              <a:rPr lang="en-US" altLang="en-US" sz="2000" dirty="0"/>
              <a:t>Computes multi-level promotional averages.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sns.catplot</a:t>
            </a:r>
            <a:r>
              <a:rPr lang="en-US" altLang="en-US" sz="2000" b="1" dirty="0"/>
              <a:t>(x='</a:t>
            </a:r>
            <a:r>
              <a:rPr lang="en-US" altLang="en-US" sz="2000" b="1" dirty="0" err="1"/>
              <a:t>customer_segment</a:t>
            </a:r>
            <a:r>
              <a:rPr lang="en-US" altLang="en-US" sz="2000" b="1" dirty="0"/>
              <a:t>', y='</a:t>
            </a:r>
            <a:r>
              <a:rPr lang="en-US" altLang="en-US" sz="2000" b="1" dirty="0" err="1"/>
              <a:t>discount_percentage</a:t>
            </a:r>
            <a:r>
              <a:rPr lang="en-US" altLang="en-US" sz="2000" b="1" dirty="0"/>
              <a:t>', hue='</a:t>
            </a:r>
            <a:r>
              <a:rPr lang="en-US" altLang="en-US" sz="2000" b="1" dirty="0" err="1"/>
              <a:t>payment_method</a:t>
            </a:r>
            <a:r>
              <a:rPr lang="en-US" altLang="en-US" sz="2000" b="1" dirty="0"/>
              <a:t>', kind='bar'): </a:t>
            </a:r>
            <a:r>
              <a:rPr lang="en-US" altLang="en-US" sz="2000" dirty="0"/>
              <a:t>Visualizes multivariate interactions.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45306" y="1400373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1949450" y="499908"/>
            <a:ext cx="82931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000" dirty="0"/>
              <a:t>Multivariate Interaction: Segment, Payment Method, &amp; Discount Impact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0" y="5369272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1727462" y="5403932"/>
            <a:ext cx="7159219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C7F48-1815-49C3-BA4E-B23619C25311}"/>
              </a:ext>
            </a:extLst>
          </p:cNvPr>
          <p:cNvSpPr/>
          <p:nvPr/>
        </p:nvSpPr>
        <p:spPr>
          <a:xfrm>
            <a:off x="6749144" y="2168197"/>
            <a:ext cx="509618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Equal Promotional Exposure:</a:t>
            </a:r>
            <a:r>
              <a:rPr lang="en-US" sz="2000" dirty="0"/>
              <a:t> Discounts are consistently distributed across New, Regular, and Premium tiers without skewing toward specific payment channels.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Payment Preference Spread:</a:t>
            </a:r>
            <a:r>
              <a:rPr lang="en-US" sz="2000" dirty="0"/>
              <a:t> Payment methods (UPI, Credit Card, Debit Card, Cash on Delivery) display uniform adoption across all customer segments.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0C10E-325A-47B6-B3BE-8B630597882B}"/>
              </a:ext>
            </a:extLst>
          </p:cNvPr>
          <p:cNvSpPr txBox="1"/>
          <p:nvPr/>
        </p:nvSpPr>
        <p:spPr>
          <a:xfrm>
            <a:off x="6749143" y="1414609"/>
            <a:ext cx="5096182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Insights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B94A5-3686-4F21-8593-EF51FC577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508" y="1422847"/>
            <a:ext cx="4418817" cy="34539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6159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2667000" y="5472"/>
            <a:ext cx="685800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/>
              <a:t>Multivariate Analysis — Correlation Matrix &amp; Feature Interdependence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61754" y="1613948"/>
            <a:ext cx="63679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Multivariate correlation evaluation measures linear dependencies among numerical order parameters.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130" y="5080293"/>
            <a:ext cx="535426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num_cols.corr</a:t>
            </a:r>
            <a:r>
              <a:rPr lang="en-US" altLang="en-US" sz="2000" b="1" dirty="0"/>
              <a:t>():</a:t>
            </a:r>
            <a:r>
              <a:rPr lang="en-US" altLang="en-US" sz="2000" dirty="0"/>
              <a:t> Computes pairwise Pearson correlation coefficients.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sns.heatmap</a:t>
            </a:r>
            <a:r>
              <a:rPr lang="en-US" altLang="en-US" sz="2000" b="1" dirty="0"/>
              <a:t>(</a:t>
            </a:r>
            <a:r>
              <a:rPr lang="en-US" altLang="en-US" sz="2000" b="1" dirty="0" err="1"/>
              <a:t>df.corr</a:t>
            </a:r>
            <a:r>
              <a:rPr lang="en-US" altLang="en-US" sz="2000" b="1" dirty="0"/>
              <a:t>(), </a:t>
            </a:r>
            <a:r>
              <a:rPr lang="en-US" altLang="en-US" sz="2000" b="1" dirty="0" err="1"/>
              <a:t>annot</a:t>
            </a:r>
            <a:r>
              <a:rPr lang="en-US" altLang="en-US" sz="2000" b="1" dirty="0"/>
              <a:t>=True, </a:t>
            </a:r>
            <a:r>
              <a:rPr lang="en-US" altLang="en-US" sz="2000" b="1" dirty="0" err="1"/>
              <a:t>cmap</a:t>
            </a:r>
            <a:r>
              <a:rPr lang="en-US" altLang="en-US" sz="2000" b="1" dirty="0"/>
              <a:t>='</a:t>
            </a:r>
            <a:r>
              <a:rPr lang="en-US" altLang="en-US" sz="2000" b="1" dirty="0" err="1"/>
              <a:t>coolwarm</a:t>
            </a:r>
            <a:r>
              <a:rPr lang="en-US" altLang="en-US" sz="2000" b="1" dirty="0"/>
              <a:t>'): </a:t>
            </a:r>
            <a:r>
              <a:rPr lang="en-US" altLang="en-US" sz="2000" dirty="0"/>
              <a:t>Renders color-coded statistical matrix visualizer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119921" y="1171604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2667000" y="571177"/>
            <a:ext cx="68580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000" dirty="0"/>
              <a:t>Numerical Correlation &amp; Feature Interactions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5037703" y="5144535"/>
            <a:ext cx="7047565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5012303" y="5131835"/>
            <a:ext cx="1847557" cy="138499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Functions </a:t>
            </a:r>
          </a:p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C7F48-1815-49C3-BA4E-B23619C25311}"/>
              </a:ext>
            </a:extLst>
          </p:cNvPr>
          <p:cNvSpPr/>
          <p:nvPr/>
        </p:nvSpPr>
        <p:spPr>
          <a:xfrm>
            <a:off x="5778500" y="1726002"/>
            <a:ext cx="6461244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/>
              <a:t>Primary Drivers of </a:t>
            </a:r>
            <a:r>
              <a:rPr lang="en-US" altLang="en-US" sz="1900" b="1" dirty="0" err="1"/>
              <a:t>final_price</a:t>
            </a:r>
            <a:r>
              <a:rPr lang="en-US" altLang="en-US" sz="1900" b="1" dirty="0"/>
              <a:t>:</a:t>
            </a:r>
            <a:endParaRPr lang="en-US" altLang="en-US" sz="19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dirty="0"/>
              <a:t>Positive correlation with </a:t>
            </a:r>
            <a:r>
              <a:rPr lang="en-US" altLang="en-US" sz="1900" dirty="0" err="1"/>
              <a:t>product_price</a:t>
            </a:r>
            <a:r>
              <a:rPr lang="en-US" altLang="en-US" sz="1900" dirty="0"/>
              <a:t> ($r \</a:t>
            </a:r>
            <a:r>
              <a:rPr lang="en-US" altLang="en-US" sz="1900" dirty="0" err="1"/>
              <a:t>approx</a:t>
            </a:r>
            <a:r>
              <a:rPr lang="en-US" altLang="en-US" sz="1900" dirty="0"/>
              <a:t> +0.60$).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dirty="0"/>
              <a:t>Positive correlation with quantity ($r \</a:t>
            </a:r>
            <a:r>
              <a:rPr lang="en-US" altLang="en-US" sz="1900" dirty="0" err="1"/>
              <a:t>approx</a:t>
            </a:r>
            <a:r>
              <a:rPr lang="en-US" altLang="en-US" sz="1900" dirty="0"/>
              <a:t> +0.50$).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/>
              <a:t>Inverse Promotional Impact:</a:t>
            </a:r>
            <a:endParaRPr lang="en-US" altLang="en-US" sz="19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dirty="0"/>
              <a:t>Moderate negative correlation between </a:t>
            </a:r>
            <a:r>
              <a:rPr lang="en-US" altLang="en-US" sz="1900" dirty="0" err="1"/>
              <a:t>discount_percentage</a:t>
            </a:r>
            <a:r>
              <a:rPr lang="en-US" altLang="en-US" sz="1900" dirty="0"/>
              <a:t> and </a:t>
            </a:r>
            <a:r>
              <a:rPr lang="en-US" altLang="en-US" sz="1900" dirty="0" err="1"/>
              <a:t>final_price</a:t>
            </a:r>
            <a:r>
              <a:rPr lang="en-US" altLang="en-US" sz="1900" dirty="0"/>
              <a:t> ($r \</a:t>
            </a:r>
            <a:r>
              <a:rPr lang="en-US" altLang="en-US" sz="1900" dirty="0" err="1"/>
              <a:t>approx</a:t>
            </a:r>
            <a:r>
              <a:rPr lang="en-US" altLang="en-US" sz="1900" dirty="0"/>
              <a:t> -0.12$).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/>
              <a:t>Orthogonal Features:</a:t>
            </a:r>
            <a:endParaRPr lang="en-US" altLang="en-US" sz="19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dirty="0"/>
              <a:t>Customer age and </a:t>
            </a:r>
            <a:r>
              <a:rPr lang="en-US" altLang="en-US" sz="1900" dirty="0" err="1"/>
              <a:t>delivery_days</a:t>
            </a:r>
            <a:r>
              <a:rPr lang="en-US" altLang="en-US" sz="1900" dirty="0"/>
              <a:t> display near-zero correlation ($r \</a:t>
            </a:r>
            <a:r>
              <a:rPr lang="en-US" altLang="en-US" sz="1900" dirty="0" err="1"/>
              <a:t>approx</a:t>
            </a:r>
            <a:r>
              <a:rPr lang="en-US" altLang="en-US" sz="1900" dirty="0"/>
              <a:t> 0.00$) with basket composition features, confirming independent process generation.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0C10E-325A-47B6-B3BE-8B630597882B}"/>
              </a:ext>
            </a:extLst>
          </p:cNvPr>
          <p:cNvSpPr txBox="1"/>
          <p:nvPr/>
        </p:nvSpPr>
        <p:spPr>
          <a:xfrm>
            <a:off x="6848973" y="1129909"/>
            <a:ext cx="5096182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Correlation Findings</a:t>
            </a:r>
            <a:endParaRPr lang="en-US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60B012-52DF-47FA-86D9-184108291E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92" t="19883" r="26250" b="-968"/>
          <a:stretch/>
        </p:blipFill>
        <p:spPr>
          <a:xfrm>
            <a:off x="143019" y="2364748"/>
            <a:ext cx="4796975" cy="39801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0388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1725742" y="-7526"/>
            <a:ext cx="8740515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/>
              <a:t>Summary, Strategic Recommendations, &amp; Conclusions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/>
            <a:endParaRPr lang="en-IN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A14B0-C8B9-48F1-B94A-83E5C317D714}"/>
              </a:ext>
            </a:extLst>
          </p:cNvPr>
          <p:cNvSpPr/>
          <p:nvPr/>
        </p:nvSpPr>
        <p:spPr>
          <a:xfrm>
            <a:off x="119921" y="1590064"/>
            <a:ext cx="597607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Synthesizing insights across Univariate, Bivariate, and Multivariate analyses provides clear direction for commercial strategy, marketing customization, and supply chain execution.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321516-FCD1-4A5A-B27A-88600899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46" y="3520741"/>
            <a:ext cx="589486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Tier-Specific Marketing:</a:t>
            </a:r>
            <a:r>
              <a:rPr lang="en-US" altLang="en-US" dirty="0"/>
              <a:t> Create targeted promotional offers for Premium customer cohorts to encourage higher basket order quantities.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Discount Strategy Refinement:</a:t>
            </a:r>
            <a:r>
              <a:rPr lang="en-US" altLang="en-US" dirty="0"/>
              <a:t> Transition from flat discounting to spend-threshold tiering to preserve gross margins on high-value orders.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Logistics Optimization:</a:t>
            </a:r>
            <a:r>
              <a:rPr lang="en-US" altLang="en-US" dirty="0"/>
              <a:t> Prioritize express shipping fulfillment for high-margin categories (e.g., Electronics, Health) to improve customer satisfaction and reduce return likelihood.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A03FE-986B-4CAE-B603-E9B50E4CED8F}"/>
              </a:ext>
            </a:extLst>
          </p:cNvPr>
          <p:cNvSpPr txBox="1"/>
          <p:nvPr/>
        </p:nvSpPr>
        <p:spPr>
          <a:xfrm>
            <a:off x="119921" y="1171604"/>
            <a:ext cx="2065844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IN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1725742" y="513121"/>
            <a:ext cx="8740514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000" dirty="0"/>
              <a:t>Executive Summary, Insights, &amp; Actionable Roadmap</a:t>
            </a:r>
            <a:endParaRPr lang="en-IN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D5B3-0EA9-4F99-A7D8-67A70C117100}"/>
              </a:ext>
            </a:extLst>
          </p:cNvPr>
          <p:cNvSpPr/>
          <p:nvPr/>
        </p:nvSpPr>
        <p:spPr>
          <a:xfrm>
            <a:off x="0" y="3131908"/>
            <a:ext cx="4062334" cy="40011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Strategic Recommendations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C607B2-3DCD-4F3E-ADD4-7ED644602669}"/>
              </a:ext>
            </a:extLst>
          </p:cNvPr>
          <p:cNvCxnSpPr>
            <a:cxnSpLocks/>
          </p:cNvCxnSpPr>
          <p:nvPr/>
        </p:nvCxnSpPr>
        <p:spPr>
          <a:xfrm>
            <a:off x="5986909" y="1592721"/>
            <a:ext cx="0" cy="4852013"/>
          </a:xfrm>
          <a:prstGeom prst="line">
            <a:avLst/>
          </a:prstGeom>
          <a:ln w="38100">
            <a:solidFill>
              <a:srgbClr val="ED7D31">
                <a:alpha val="36863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C7F48-1815-49C3-BA4E-B23619C25311}"/>
              </a:ext>
            </a:extLst>
          </p:cNvPr>
          <p:cNvSpPr/>
          <p:nvPr/>
        </p:nvSpPr>
        <p:spPr>
          <a:xfrm>
            <a:off x="6096000" y="1666210"/>
            <a:ext cx="5976079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900" b="1" dirty="0"/>
              <a:t>High Data Completeness:</a:t>
            </a:r>
            <a:r>
              <a:rPr lang="en-US" altLang="en-US" sz="1900" dirty="0"/>
              <a:t> The 100,000-record dataset displays zero missing values and zero duplicate entries, supporting reliable statistical inference.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1900" b="1" dirty="0"/>
              <a:t>Revenue Driver Identification:</a:t>
            </a:r>
            <a:r>
              <a:rPr lang="en-US" altLang="en-US" sz="1900" dirty="0"/>
              <a:t> Basket transaction revenue (</a:t>
            </a:r>
            <a:r>
              <a:rPr lang="en-US" altLang="en-US" sz="1900" dirty="0" err="1"/>
              <a:t>final_price</a:t>
            </a:r>
            <a:r>
              <a:rPr lang="en-US" altLang="en-US" sz="1900" dirty="0"/>
              <a:t>) is heavily governed by single-unit price points and multi-item basket counts ($r = +0.60$ and $+0.50$).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1900" b="1" dirty="0"/>
              <a:t>Broad Customer Reach:</a:t>
            </a:r>
            <a:r>
              <a:rPr lang="en-US" altLang="en-US" sz="1900" dirty="0"/>
              <a:t> Even demographic distribution across age brackets (18–65) and genders indicates strong cross-segment appeal.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0C10E-325A-47B6-B3BE-8B630597882B}"/>
              </a:ext>
            </a:extLst>
          </p:cNvPr>
          <p:cNvSpPr txBox="1"/>
          <p:nvPr/>
        </p:nvSpPr>
        <p:spPr>
          <a:xfrm>
            <a:off x="6848973" y="1129909"/>
            <a:ext cx="5096182" cy="5232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Key </a:t>
            </a:r>
            <a:r>
              <a:rPr lang="en-US" altLang="en-US"/>
              <a:t>Analytical Takeaways</a:t>
            </a:r>
            <a:endParaRPr lang="en-US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6DD0DE-9038-4D63-8188-29754284A8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174" t="37675" r="15435" b="38158"/>
          <a:stretch/>
        </p:blipFill>
        <p:spPr>
          <a:xfrm>
            <a:off x="6102142" y="4724400"/>
            <a:ext cx="5969936" cy="20446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7889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0" y="-23821"/>
            <a:ext cx="6629223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r>
              <a:rPr lang="en-US" sz="2400" b="1" dirty="0"/>
              <a:t>Main Python Functions &amp; Purpose Reference</a:t>
            </a:r>
            <a:endParaRPr lang="en-IN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0F39A35-FF10-4719-BC4A-FC335DB43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740663"/>
              </p:ext>
            </p:extLst>
          </p:nvPr>
        </p:nvGraphicFramePr>
        <p:xfrm>
          <a:off x="0" y="814364"/>
          <a:ext cx="12192000" cy="6823976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888761">
                  <a:extLst>
                    <a:ext uri="{9D8B030D-6E8A-4147-A177-3AD203B41FA5}">
                      <a16:colId xmlns:a16="http://schemas.microsoft.com/office/drawing/2014/main" val="2272865047"/>
                    </a:ext>
                  </a:extLst>
                </a:gridCol>
                <a:gridCol w="2480039">
                  <a:extLst>
                    <a:ext uri="{9D8B030D-6E8A-4147-A177-3AD203B41FA5}">
                      <a16:colId xmlns:a16="http://schemas.microsoft.com/office/drawing/2014/main" val="159718732"/>
                    </a:ext>
                  </a:extLst>
                </a:gridCol>
                <a:gridCol w="2830286">
                  <a:extLst>
                    <a:ext uri="{9D8B030D-6E8A-4147-A177-3AD203B41FA5}">
                      <a16:colId xmlns:a16="http://schemas.microsoft.com/office/drawing/2014/main" val="3208219703"/>
                    </a:ext>
                  </a:extLst>
                </a:gridCol>
                <a:gridCol w="4992914">
                  <a:extLst>
                    <a:ext uri="{9D8B030D-6E8A-4147-A177-3AD203B41FA5}">
                      <a16:colId xmlns:a16="http://schemas.microsoft.com/office/drawing/2014/main" val="3598518084"/>
                    </a:ext>
                  </a:extLst>
                </a:gridCol>
              </a:tblGrid>
              <a:tr h="520950"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effectLst/>
                        </a:rPr>
                        <a:t>Library / Module</a:t>
                      </a:r>
                      <a:endParaRPr lang="en-IN" sz="1600" b="1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effectLst/>
                        </a:rPr>
                        <a:t>Function Call</a:t>
                      </a:r>
                      <a:endParaRPr lang="en-IN" sz="1600" b="1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effectLst/>
                        </a:rPr>
                        <a:t>Analytical Purpose</a:t>
                      </a:r>
                      <a:endParaRPr lang="en-IN" sz="1600" b="1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effectLst/>
                        </a:rPr>
                        <a:t>Applied Output Context</a:t>
                      </a:r>
                      <a:endParaRPr lang="en-IN" sz="1600" b="1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2191348030"/>
                  </a:ext>
                </a:extLst>
              </a:tr>
              <a:tr h="4001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Pandas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 err="1">
                          <a:effectLst/>
                        </a:rPr>
                        <a:t>pd.read_excel</a:t>
                      </a:r>
                      <a:r>
                        <a:rPr lang="en-IN" sz="1600" dirty="0">
                          <a:effectLst/>
                        </a:rPr>
                        <a:t>()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Ingestion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Loaded 100,000 transaction records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1146651797"/>
                  </a:ext>
                </a:extLst>
              </a:tr>
              <a:tr h="53849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Pandas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df.info()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Structural Audit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Verified data types and memory footprint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4194011463"/>
                  </a:ext>
                </a:extLst>
              </a:tr>
              <a:tr h="558131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Pandas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 err="1">
                          <a:effectLst/>
                        </a:rPr>
                        <a:t>df.describe</a:t>
                      </a:r>
                      <a:r>
                        <a:rPr lang="en-IN" sz="1600" dirty="0">
                          <a:effectLst/>
                        </a:rPr>
                        <a:t>()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Descriptive Analytics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Derived mean, std, quantiles across numeric attributes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2115006178"/>
                  </a:ext>
                </a:extLst>
              </a:tr>
              <a:tr h="558131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Pandas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 err="1">
                          <a:effectLst/>
                        </a:rPr>
                        <a:t>df.isnull</a:t>
                      </a:r>
                      <a:r>
                        <a:rPr lang="en-IN" sz="1600" dirty="0">
                          <a:effectLst/>
                        </a:rPr>
                        <a:t>().sum()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Data Quality Check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Confirmed complete dataset with zero missing entries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4260209366"/>
                  </a:ext>
                </a:extLst>
              </a:tr>
              <a:tr h="4001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Pandas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 err="1">
                          <a:effectLst/>
                        </a:rPr>
                        <a:t>df.duplicated</a:t>
                      </a:r>
                      <a:r>
                        <a:rPr lang="en-IN" sz="1600" dirty="0">
                          <a:effectLst/>
                        </a:rPr>
                        <a:t>().sum()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Deduplication Check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Confirmed zero duplicate order rows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1454842203"/>
                  </a:ext>
                </a:extLst>
              </a:tr>
              <a:tr h="558131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Pandas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df.select_dtypes()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Column Filtering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Isolated numerical columns for statistical testing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2934917309"/>
                  </a:ext>
                </a:extLst>
              </a:tr>
              <a:tr h="53849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Pandas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num_cols.skew()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Moment Analysis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Identified right-skew in </a:t>
                      </a:r>
                      <a:r>
                        <a:rPr lang="en-US" sz="1600" dirty="0" err="1">
                          <a:effectLst/>
                        </a:rPr>
                        <a:t>final_price</a:t>
                      </a:r>
                      <a:r>
                        <a:rPr lang="en-US" sz="1600" dirty="0">
                          <a:effectLst/>
                        </a:rPr>
                        <a:t> (+0.935)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2719801554"/>
                  </a:ext>
                </a:extLst>
              </a:tr>
              <a:tr h="558131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Pandas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num_cols.kurtosis()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Shape Diagnostics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Checked tail weight and </a:t>
                      </a:r>
                      <a:r>
                        <a:rPr lang="en-US" sz="1600" dirty="0" err="1">
                          <a:effectLst/>
                        </a:rPr>
                        <a:t>peakiness</a:t>
                      </a:r>
                      <a:r>
                        <a:rPr lang="en-US" sz="1600" dirty="0">
                          <a:effectLst/>
                        </a:rPr>
                        <a:t> across features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1713641644"/>
                  </a:ext>
                </a:extLst>
              </a:tr>
              <a:tr h="53849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Seaborn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sns.histplot()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Univariate Analysis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Visualized demographic and pricing distributions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1151719228"/>
                  </a:ext>
                </a:extLst>
              </a:tr>
              <a:tr h="558131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Seaborn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sns.boxplot()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Bivariate Analysis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Audited dispersion and detected statistical outliers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459845198"/>
                  </a:ext>
                </a:extLst>
              </a:tr>
              <a:tr h="558131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Seaborn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sns.heatmap()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</a:rPr>
                        <a:t>Multivariate Analysis</a:t>
                      </a:r>
                      <a:endParaRPr lang="en-IN" sz="1600" b="0" i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Plotted pairwise numerical feature correlations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2179134147"/>
                  </a:ext>
                </a:extLst>
              </a:tr>
              <a:tr h="53849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Matplotlib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 err="1">
                          <a:effectLst/>
                        </a:rPr>
                        <a:t>plt.show</a:t>
                      </a:r>
                      <a:r>
                        <a:rPr lang="en-IN" sz="1600" dirty="0">
                          <a:effectLst/>
                        </a:rPr>
                        <a:t>() / </a:t>
                      </a:r>
                      <a:r>
                        <a:rPr lang="en-IN" sz="1600" dirty="0" err="1">
                          <a:effectLst/>
                        </a:rPr>
                        <a:t>plt.savefig</a:t>
                      </a:r>
                      <a:r>
                        <a:rPr lang="en-IN" sz="1600" dirty="0">
                          <a:effectLst/>
                        </a:rPr>
                        <a:t>()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</a:rPr>
                        <a:t>Render Control</a:t>
                      </a:r>
                      <a:endParaRPr lang="en-IN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Generated chart layouts for presentation export</a:t>
                      </a:r>
                      <a:endParaRPr lang="en-US" sz="1600" b="0" i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8709" marR="48709" marT="32473" marB="32473" anchor="ctr"/>
                </a:tc>
                <a:extLst>
                  <a:ext uri="{0D108BD9-81ED-4DB2-BD59-A6C34878D82A}">
                    <a16:rowId xmlns:a16="http://schemas.microsoft.com/office/drawing/2014/main" val="21208597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69D6D2-DA0C-423C-BAFD-35010466A0DE}"/>
              </a:ext>
            </a:extLst>
          </p:cNvPr>
          <p:cNvSpPr txBox="1"/>
          <p:nvPr/>
        </p:nvSpPr>
        <p:spPr>
          <a:xfrm>
            <a:off x="0" y="385226"/>
            <a:ext cx="1219200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r>
              <a:rPr lang="en-US" sz="2000" dirty="0"/>
              <a:t>Python &amp; Data Science Stack Reference</a:t>
            </a:r>
            <a:endParaRPr lang="en-IN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10DF92-6059-4206-83DA-C0EAE10F0DE4}"/>
              </a:ext>
            </a:extLst>
          </p:cNvPr>
          <p:cNvSpPr txBox="1"/>
          <p:nvPr/>
        </p:nvSpPr>
        <p:spPr>
          <a:xfrm>
            <a:off x="6096000" y="-9308"/>
            <a:ext cx="6096000" cy="76944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r>
              <a:rPr lang="en-US" sz="2200" dirty="0"/>
              <a:t>A structured mapping of core Python functions used throughout the project data pipeline</a:t>
            </a:r>
          </a:p>
        </p:txBody>
      </p:sp>
    </p:spTree>
    <p:extLst>
      <p:ext uri="{BB962C8B-B14F-4D97-AF65-F5344CB8AC3E}">
        <p14:creationId xmlns:p14="http://schemas.microsoft.com/office/powerpoint/2010/main" val="2287614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203626-6482-4FC2-B378-1DE6E8BC5BC6}"/>
              </a:ext>
            </a:extLst>
          </p:cNvPr>
          <p:cNvSpPr txBox="1"/>
          <p:nvPr/>
        </p:nvSpPr>
        <p:spPr>
          <a:xfrm>
            <a:off x="3273425" y="8656"/>
            <a:ext cx="564515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/>
            </a:lvl1pPr>
          </a:lstStyle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Boxplots for Outlier Visualizations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807B7-8D9A-4C00-80C8-C697B12550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16"/>
          <a:stretch/>
        </p:blipFill>
        <p:spPr>
          <a:xfrm>
            <a:off x="3937848" y="1393651"/>
            <a:ext cx="8254152" cy="42197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31D1F1-B2E2-44CB-8460-A773C0517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618" y="2311169"/>
            <a:ext cx="2988763" cy="12067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AE1F36A6-5C72-492B-929C-7FAA39DB8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99" y="601917"/>
            <a:ext cx="94615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chart demonstrates that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final_price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has both a higher central tendency and far greater variance than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product_price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alongside a notable set of extreme upper-bound outliers that drastically skew its overall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distribution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3D336491-2ECD-469F-8D76-AEC271393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18" y="1671114"/>
            <a:ext cx="3696630" cy="5278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PRODUCT_PRICE (BLUE BOX)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Distribution: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Features a lower overall range, with prices concentrated mostly between ~15,000 and 45,000 (median around 30,000).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Outliers: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Shows no extreme outliers beyond its upper whisker (which caps around 60,000).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FINAL_PRICE (ORANGE BOX)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Distribution: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Shows significantly higher values and a much wider interquartile range (IQR), stretching from roughly 25,000 to 95,000 with a median around 50,000.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Outliers: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Displays a dense cluster of significant high-value outliers extending from approximately 200,000 up to nearly 240,000.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E6C80B-6438-4BF3-9AEB-5894FDED2585}"/>
              </a:ext>
            </a:extLst>
          </p:cNvPr>
          <p:cNvSpPr/>
          <p:nvPr/>
        </p:nvSpPr>
        <p:spPr>
          <a:xfrm>
            <a:off x="37771" y="1188380"/>
            <a:ext cx="3810723" cy="46487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KEY OBSERVATIONS FROM THE DATASET</a:t>
            </a:r>
          </a:p>
        </p:txBody>
      </p:sp>
    </p:spTree>
    <p:extLst>
      <p:ext uri="{BB962C8B-B14F-4D97-AF65-F5344CB8AC3E}">
        <p14:creationId xmlns:p14="http://schemas.microsoft.com/office/powerpoint/2010/main" val="195955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191CB5-15EA-4CE8-B1FE-3340D30A62F0}"/>
              </a:ext>
            </a:extLst>
          </p:cNvPr>
          <p:cNvSpPr txBox="1"/>
          <p:nvPr/>
        </p:nvSpPr>
        <p:spPr>
          <a:xfrm>
            <a:off x="313081" y="704455"/>
            <a:ext cx="10558119" cy="558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Customer Demographics: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customer_id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, age, gender, city, state,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customer_segment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(New, Regular, Premium)</a:t>
            </a:r>
          </a:p>
          <a:p>
            <a:pPr>
              <a:lnSpc>
                <a:spcPct val="150000"/>
              </a:lnSpc>
            </a:pPr>
            <a:r>
              <a:rPr lang="en-US" sz="2000" b="1" i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Order &amp; Product Info: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order_id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order_date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product_category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product_subcategory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product_price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, quantity,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discount_percentage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final_price</a:t>
            </a:r>
            <a:endParaRPr lang="en-US" sz="2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i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Logistics &amp; Payment: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payment_method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(UPI, Debit Card, Credit Card, Cash on Delivery),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shipping_type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(Standard, Express),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delivery_days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return_status</a:t>
            </a:r>
            <a:endParaRPr lang="en-US" sz="2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KEY OBSERVATIONS FROM THE DATASET</a:t>
            </a:r>
          </a:p>
          <a:p>
            <a:pPr>
              <a:lnSpc>
                <a:spcPct val="150000"/>
              </a:lnSpc>
            </a:pPr>
            <a:r>
              <a:rPr lang="en-US" sz="2000" b="1" i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Top Categories: 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Health, Electronics, Beauty, Fashion, Grocery, and Home &amp; Kitchen.</a:t>
            </a:r>
          </a:p>
          <a:p>
            <a:pPr>
              <a:lnSpc>
                <a:spcPct val="150000"/>
              </a:lnSpc>
            </a:pPr>
            <a:r>
              <a:rPr lang="en-US" sz="2000" b="1" i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Highest Final Price Transaction: </a:t>
            </a: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Order O50012 (Health - Supplements) at ₹1,48,339.52.</a:t>
            </a:r>
          </a:p>
          <a:p>
            <a:pPr>
              <a:lnSpc>
                <a:spcPct val="150000"/>
              </a:lnSpc>
            </a:pPr>
            <a:r>
              <a:rPr lang="en-US" sz="2000" b="1" i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Returned Orders: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o   Order O50001 (Smartphone) by customer C10001 (Pune, Premium).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o   Order O50018 (Women Dress) by customer C10018 (Bangalore, New).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BC63D-538E-476B-AE51-CE5B08F7EAA9}"/>
              </a:ext>
            </a:extLst>
          </p:cNvPr>
          <p:cNvSpPr txBox="1"/>
          <p:nvPr/>
        </p:nvSpPr>
        <p:spPr>
          <a:xfrm>
            <a:off x="0" y="181235"/>
            <a:ext cx="4486769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800"/>
            </a:lvl1pPr>
          </a:lstStyle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Data Summary &amp; Schema</a:t>
            </a:r>
          </a:p>
        </p:txBody>
      </p:sp>
    </p:spTree>
    <p:extLst>
      <p:ext uri="{BB962C8B-B14F-4D97-AF65-F5344CB8AC3E}">
        <p14:creationId xmlns:p14="http://schemas.microsoft.com/office/powerpoint/2010/main" val="145421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60EC369-C9A0-4937-80A6-6811A3BC910E}"/>
              </a:ext>
            </a:extLst>
          </p:cNvPr>
          <p:cNvSpPr/>
          <p:nvPr/>
        </p:nvSpPr>
        <p:spPr>
          <a:xfrm>
            <a:off x="8890000" y="-1016000"/>
            <a:ext cx="3810000" cy="3810000"/>
          </a:xfrm>
          <a:prstGeom prst="ellipse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6EFB9DB-2818-4045-9C56-AEE349275672}"/>
              </a:ext>
            </a:extLst>
          </p:cNvPr>
          <p:cNvSpPr/>
          <p:nvPr/>
        </p:nvSpPr>
        <p:spPr>
          <a:xfrm>
            <a:off x="-880977" y="4021671"/>
            <a:ext cx="3556000" cy="3556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031C6-66E2-436B-8EBB-126866E0CC34}"/>
              </a:ext>
            </a:extLst>
          </p:cNvPr>
          <p:cNvSpPr txBox="1"/>
          <p:nvPr/>
        </p:nvSpPr>
        <p:spPr>
          <a:xfrm>
            <a:off x="635000" y="39370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400" dirty="0">
                <a:solidFill>
                  <a:srgbClr val="E0F2FE"/>
                </a:solidFill>
                <a:latin typeface="Calibri" panose="020F0502020204030204" pitchFamily="34" charset="0"/>
              </a:rPr>
              <a:t>Open for Questions &amp; Discussion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DE267C-59FA-470A-BB13-5F463CE0A730}"/>
              </a:ext>
            </a:extLst>
          </p:cNvPr>
          <p:cNvSpPr/>
          <p:nvPr/>
        </p:nvSpPr>
        <p:spPr>
          <a:xfrm>
            <a:off x="323416" y="5513921"/>
            <a:ext cx="332525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4800" b="1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Histogram</a:t>
            </a:r>
            <a:endParaRPr lang="en-IN" sz="11500" b="1" dirty="0">
              <a:solidFill>
                <a:schemeClr val="accent1">
                  <a:lumMod val="75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B99DB7-2499-498D-8067-B2B1113DBC9E}"/>
              </a:ext>
            </a:extLst>
          </p:cNvPr>
          <p:cNvSpPr txBox="1"/>
          <p:nvPr/>
        </p:nvSpPr>
        <p:spPr>
          <a:xfrm>
            <a:off x="1725742" y="111650"/>
            <a:ext cx="8740515" cy="12003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Visualizing Distributions &amp; Heavy Tails (Histograms with KDE)</a:t>
            </a:r>
            <a:endParaRPr lang="en-I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69B8B2-BD18-412C-863F-8028B809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446" y="1537485"/>
            <a:ext cx="9633108" cy="4021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8449149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71B938-A0E1-4DD0-B438-F0E65AC2D00A}"/>
              </a:ext>
            </a:extLst>
          </p:cNvPr>
          <p:cNvSpPr txBox="1"/>
          <p:nvPr/>
        </p:nvSpPr>
        <p:spPr>
          <a:xfrm>
            <a:off x="290285" y="888823"/>
            <a:ext cx="6037943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1. Data Loading &amp; Schema Setup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•   Uses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pd.read_xls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() and df.info() to verify column structures, missing values, and data types (18 variables).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2. Univariate Analysis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•   Statistical Metrics: Calculates mean, median (50%), standard deviation, minimum, maximum, skewness, and kurtosis using .skew() and .kurtosis().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•   Distributions: Plotting histograms with Kernel Density Estimates (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sns.histplot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) for numerical variables and frequency bar counts (sns.countplot) for categorical columns.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3. Outlier Detection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•   Employs visual Boxplots (sns.boxplot) alongside quantitative Interquartile Range (IQR) detection logic to flag potential high-value purchase anomalies.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5BEA6-22BC-48EB-83E1-E88D88B330EB}"/>
              </a:ext>
            </a:extLst>
          </p:cNvPr>
          <p:cNvSpPr txBox="1"/>
          <p:nvPr/>
        </p:nvSpPr>
        <p:spPr>
          <a:xfrm>
            <a:off x="1609231" y="102827"/>
            <a:ext cx="8740515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Step-by-Step Breakdown of Performed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93530-A18A-43C1-A21C-DD51CE4BFF08}"/>
              </a:ext>
            </a:extLst>
          </p:cNvPr>
          <p:cNvSpPr txBox="1"/>
          <p:nvPr/>
        </p:nvSpPr>
        <p:spPr>
          <a:xfrm>
            <a:off x="6644460" y="991650"/>
            <a:ext cx="5257255" cy="628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4. Bivariate Analysis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•   Pearson Correlation: Computes .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corr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across numerical attributes and visualizes relationships using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sns.heatmap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•   Segment Comparisons: Evaluates interaction pairs such as Customer Segment vs. Spending and Shipping Type vs. Delivery Days.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5. Multivariate Analysis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•   Uses multi-dimensional visualization (hue parameter in Seaborn) to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3-way interactions: Category × Discount × Price, Segment × Age Group × Spending, and Delivery Days × Shipping Type × Return Status.</a:t>
            </a:r>
          </a:p>
          <a:p>
            <a:pPr>
              <a:lnSpc>
                <a:spcPct val="150000"/>
              </a:lnSpc>
            </a:pPr>
            <a:b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54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Manual Input 8">
            <a:extLst>
              <a:ext uri="{FF2B5EF4-FFF2-40B4-BE49-F238E27FC236}">
                <a16:creationId xmlns:a16="http://schemas.microsoft.com/office/drawing/2014/main" id="{14257DFA-74C2-4FB6-960B-DBCC1648360A}"/>
              </a:ext>
            </a:extLst>
          </p:cNvPr>
          <p:cNvSpPr/>
          <p:nvPr/>
        </p:nvSpPr>
        <p:spPr>
          <a:xfrm rot="10800000">
            <a:off x="0" y="190685"/>
            <a:ext cx="12192000" cy="5064369"/>
          </a:xfrm>
          <a:prstGeom prst="flowChartManualInpu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B08EC769-DED8-4021-9841-98E5E1AC04FD}"/>
              </a:ext>
            </a:extLst>
          </p:cNvPr>
          <p:cNvSpPr/>
          <p:nvPr/>
        </p:nvSpPr>
        <p:spPr>
          <a:xfrm rot="10800000">
            <a:off x="-1" y="0"/>
            <a:ext cx="12192000" cy="5064369"/>
          </a:xfrm>
          <a:prstGeom prst="flowChartManualInpu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581462" y="1297842"/>
            <a:ext cx="1102907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sz="138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r>
              <a:rPr lang="en-US" sz="138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  <a:endParaRPr sz="13800" dirty="0">
              <a:solidFill>
                <a:schemeClr val="bg1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0811" y="5453047"/>
            <a:ext cx="7256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sz="32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 panose="020B0502020202020204" pitchFamily="34" charset="0"/>
              </a:rPr>
              <a:t>Feel Free To Discuss Any Questions</a:t>
            </a:r>
            <a:endParaRPr sz="32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FFC7A-7264-4860-A00E-E61A22EB8665}"/>
              </a:ext>
            </a:extLst>
          </p:cNvPr>
          <p:cNvSpPr txBox="1"/>
          <p:nvPr/>
        </p:nvSpPr>
        <p:spPr>
          <a:xfrm>
            <a:off x="4427806" y="3221445"/>
            <a:ext cx="41429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sz="3200" b="1" dirty="0"/>
              <a:t>For Your Attention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3.xml><?xml version="1.0" encoding="utf-8"?>
<a:theme xmlns:a="http://schemas.openxmlformats.org/drawingml/2006/main" name="1_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4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2298</Words>
  <Application>Microsoft Office PowerPoint</Application>
  <PresentationFormat>Widescreen</PresentationFormat>
  <Paragraphs>244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8" baseType="lpstr">
      <vt:lpstr>Arial Unicode MS</vt:lpstr>
      <vt:lpstr>Arial</vt:lpstr>
      <vt:lpstr>Arial Black</vt:lpstr>
      <vt:lpstr>Bahnschrift SemiBold SemiConden</vt:lpstr>
      <vt:lpstr>Britannic Bold</vt:lpstr>
      <vt:lpstr>Calibri</vt:lpstr>
      <vt:lpstr>Calibri Light</vt:lpstr>
      <vt:lpstr>Calisto MT</vt:lpstr>
      <vt:lpstr>Cambria</vt:lpstr>
      <vt:lpstr>Century Gothic</vt:lpstr>
      <vt:lpstr>Constantia</vt:lpstr>
      <vt:lpstr>Dubai</vt:lpstr>
      <vt:lpstr>Ebrima</vt:lpstr>
      <vt:lpstr>Eras Bold ITC</vt:lpstr>
      <vt:lpstr>Google Sans Text</vt:lpstr>
      <vt:lpstr>Trebuchet MS</vt:lpstr>
      <vt:lpstr>Office Theme</vt:lpstr>
      <vt:lpstr>Berlin</vt:lpstr>
      <vt:lpstr>1_Berlin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omie</dc:creator>
  <cp:lastModifiedBy>omie</cp:lastModifiedBy>
  <cp:revision>187</cp:revision>
  <dcterms:created xsi:type="dcterms:W3CDTF">2026-08-19T19:03:48Z</dcterms:created>
  <dcterms:modified xsi:type="dcterms:W3CDTF">2026-09-25T12:55:52Z</dcterms:modified>
</cp:coreProperties>
</file>